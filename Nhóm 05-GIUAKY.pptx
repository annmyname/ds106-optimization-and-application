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embeddedFontLst>
    <p:embeddedFont>
      <p:font typeface="Cabin"/>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ivfqG87wSAySc1+TebXke5qoN4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720CB9-E96E-4544-BF5B-146836890901}">
  <a:tblStyle styleId="{5F720CB9-E96E-4544-BF5B-14683689090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abin-regular.fntdata"/><Relationship Id="rId21" Type="http://schemas.openxmlformats.org/officeDocument/2006/relationships/slide" Target="slides/slide15.xml"/><Relationship Id="rId24" Type="http://schemas.openxmlformats.org/officeDocument/2006/relationships/font" Target="fonts/Cabin-italic.fntdata"/><Relationship Id="rId23" Type="http://schemas.openxmlformats.org/officeDocument/2006/relationships/font" Target="fonts/Cabin-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Cabin-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Phân loại rối loạn nhịp tim sử dụng GA Stacking trong học máy kết hợp.</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9" name="Google Shape;139;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0" name="Google Shape;140;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a:t>Chúng tôi phát triển một mô hình kết hợp giữa CNN_1D, Gradient Boosting, XGBoost và RandomForest được tối ưu hóa bằng GA Stacking để phân loại rối loạn nhịp tim. Nhóm chúng tôi kỳ vọng mô hình này sẽ vượt trội hơn so với các phương pháp riêng lẻ về độ chính xác, Precision, Recall và F1-score, ngay cả khi dữ liệu mất cân đối, qua đó thể hiện tiềm năng của GA Stacking trong chẩn đoán y khoa tự động.</a:t>
            </a:r>
            <a:endParaRPr/>
          </a:p>
          <a:p>
            <a:pPr indent="0" lvl="0" marL="0" rtl="0" algn="l">
              <a:spcBef>
                <a:spcPts val="0"/>
              </a:spcBef>
              <a:spcAft>
                <a:spcPts val="0"/>
              </a:spcAft>
              <a:buNone/>
            </a:pPr>
            <a:r>
              <a:rPr lang="en-US"/>
              <a:t>- INPUT: Các đặc trưng pha ECG từ Cơ sở Dữ liệu Rối loạn Nhịp Tim.  </a:t>
            </a:r>
            <a:endParaRPr/>
          </a:p>
          <a:p>
            <a:pPr indent="0" lvl="0" marL="0" rtl="0" algn="l">
              <a:spcBef>
                <a:spcPts val="0"/>
              </a:spcBef>
              <a:spcAft>
                <a:spcPts val="0"/>
              </a:spcAft>
              <a:buNone/>
            </a:pPr>
            <a:r>
              <a:rPr lang="en-US"/>
              <a:t>- OUTPUT: Dự đoán các loại rối loạn nhịp tim (13 nhãn).  </a:t>
            </a:r>
            <a:endParaRPr/>
          </a:p>
        </p:txBody>
      </p:sp>
      <p:sp>
        <p:nvSpPr>
          <p:cNvPr id="142" name="Google Shape;142;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3" name="Google Shape;143;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3" name="Google Shape;153;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4" name="Google Shape;154;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Các nghiên cứu trước đây đã sử dụng các mô hình đơn lẻ như CNN, SVM, LSTM,... để phân loại rối loạn nhịp tim dựa trên tín hiệu ECG. Mặc dù các mô hình này có những ưu điểm riêng, chúng có thể không tận dụng tối đa tiềm năng của nhiều kỹ thuật học máy cho các tập dữ liệu phức tạp.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Các phương pháp học máy ensemble, chẳng hạn như GA-Stacking, kết hợp sức mạnh của các mô hình, cải thiện độ chính xác và khả năng tổng quát. Các nghiên cứu như "Improved Stacked Ensemble with Genetic Algorithm for Automatic ECG Diagnosis" (2023) cho thấy hiệu quả của GA-Stacking, với hiệu suất cao trong việc phát hiện bất thường ECG.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Dự án này kế thừa những tiến bộ đó để nâng cao khả năng phát hiện rối loạn nhịp tim.</a:t>
            </a:r>
            <a:endParaRPr/>
          </a:p>
        </p:txBody>
      </p:sp>
      <p:sp>
        <p:nvSpPr>
          <p:cNvPr id="156" name="Google Shape;156;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7" name="Google Shape;157;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6" name="Google Shape;166;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7" name="Google Shape;167;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Chúng tôi đã sử dụng bộ dữ liệu Cardiac Arrhythmia, có sẵn trên Kaggle, được giới thiệu lần đầu trong bài báo “A Supervised Machine Learning Algorithm for Arrhythmia Analysis” (1997). Dữ liệu này nhằm mục đích nhận dạng, nhận diện và phân loại các loại rối loạn nhịp tim khác nhau. Nó bao gồm 452 hồ sơ bệnh nhân với 279 đặc trưng, bao gồm các thông tin của bệnh nhân như tuổi, giới tính, chiều cao, cân nặng, nhịp tim, và các tham số ECG như sóng Q, R, S qua các kênh DI, DII, DIII và các kênh khác. Khoảng 0,33% giá trị các đặc trưng bị thiếu.</a:t>
            </a:r>
            <a:endParaRPr/>
          </a:p>
        </p:txBody>
      </p:sp>
      <p:sp>
        <p:nvSpPr>
          <p:cNvPr id="169" name="Google Shape;169;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0" name="Google Shape;170;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0" name="Google Shape;180;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1" name="Google Shape;181;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Sau quá trình tiền xử lý và làm sạch ( cụ thể là: loại bỏ nhãn không có dữ liệu, loại bỏ dòng dữ liệu trùng lặp), 13 nhãn của biến mục tiêu tương ứng:</a:t>
            </a:r>
            <a:endParaRPr/>
          </a:p>
          <a:p>
            <a:pPr indent="0" lvl="0" marL="0" rtl="0" algn="l">
              <a:spcBef>
                <a:spcPts val="0"/>
              </a:spcBef>
              <a:spcAft>
                <a:spcPts val="0"/>
              </a:spcAft>
              <a:buNone/>
            </a:pPr>
            <a:r>
              <a:rPr lang="en-US"/>
              <a:t>‘0’: Biểu thị ECG bình thường</a:t>
            </a:r>
            <a:endParaRPr/>
          </a:p>
          <a:p>
            <a:pPr indent="0" lvl="0" marL="0" rtl="0" algn="l">
              <a:spcBef>
                <a:spcPts val="0"/>
              </a:spcBef>
              <a:spcAft>
                <a:spcPts val="0"/>
              </a:spcAft>
              <a:buNone/>
            </a:pPr>
            <a:r>
              <a:rPr lang="en-US"/>
              <a:t>‘1’: Các thay đổi do bệnh động mạch vành</a:t>
            </a:r>
            <a:endParaRPr/>
          </a:p>
          <a:p>
            <a:pPr indent="0" lvl="0" marL="0" rtl="0" algn="l">
              <a:spcBef>
                <a:spcPts val="0"/>
              </a:spcBef>
              <a:spcAft>
                <a:spcPts val="0"/>
              </a:spcAft>
              <a:buNone/>
            </a:pPr>
            <a:r>
              <a:rPr lang="en-US"/>
              <a:t>‘2’: Nhồi máu cơ tim cũ vùng trước</a:t>
            </a:r>
            <a:endParaRPr/>
          </a:p>
          <a:p>
            <a:pPr indent="0" lvl="0" marL="0" rtl="0" algn="l">
              <a:spcBef>
                <a:spcPts val="0"/>
              </a:spcBef>
              <a:spcAft>
                <a:spcPts val="0"/>
              </a:spcAft>
              <a:buNone/>
            </a:pPr>
            <a:r>
              <a:rPr lang="en-US"/>
              <a:t>‘3’: Nhồi máu cơ tim cũ vùng dưới</a:t>
            </a:r>
            <a:endParaRPr/>
          </a:p>
          <a:p>
            <a:pPr indent="0" lvl="0" marL="0" rtl="0" algn="l">
              <a:spcBef>
                <a:spcPts val="0"/>
              </a:spcBef>
              <a:spcAft>
                <a:spcPts val="0"/>
              </a:spcAft>
              <a:buNone/>
            </a:pPr>
            <a:r>
              <a:rPr lang="en-US"/>
              <a:t>‘4’:  Nhịp nhanh xoang</a:t>
            </a:r>
            <a:endParaRPr/>
          </a:p>
          <a:p>
            <a:pPr indent="0" lvl="0" marL="0" rtl="0" algn="l">
              <a:spcBef>
                <a:spcPts val="0"/>
              </a:spcBef>
              <a:spcAft>
                <a:spcPts val="0"/>
              </a:spcAft>
              <a:buNone/>
            </a:pPr>
            <a:r>
              <a:rPr lang="en-US"/>
              <a:t>‘5’:  Nhịp chậm xoang</a:t>
            </a:r>
            <a:endParaRPr/>
          </a:p>
          <a:p>
            <a:pPr indent="0" lvl="0" marL="0" rtl="0" algn="l">
              <a:spcBef>
                <a:spcPts val="0"/>
              </a:spcBef>
              <a:spcAft>
                <a:spcPts val="0"/>
              </a:spcAft>
              <a:buNone/>
            </a:pPr>
            <a:r>
              <a:rPr lang="en-US"/>
              <a:t>‘6’:  Ngoại tâm thu thất</a:t>
            </a:r>
            <a:endParaRPr/>
          </a:p>
          <a:p>
            <a:pPr indent="0" lvl="0" marL="0" rtl="0" algn="l">
              <a:spcBef>
                <a:spcPts val="0"/>
              </a:spcBef>
              <a:spcAft>
                <a:spcPts val="0"/>
              </a:spcAft>
              <a:buNone/>
            </a:pPr>
            <a:r>
              <a:rPr lang="en-US"/>
              <a:t>‘7’:  Ngoại tâm thu nhĩ</a:t>
            </a:r>
            <a:endParaRPr/>
          </a:p>
          <a:p>
            <a:pPr indent="0" lvl="0" marL="0" rtl="0" algn="l">
              <a:spcBef>
                <a:spcPts val="0"/>
              </a:spcBef>
              <a:spcAft>
                <a:spcPts val="0"/>
              </a:spcAft>
              <a:buNone/>
            </a:pPr>
            <a:r>
              <a:rPr lang="en-US"/>
              <a:t>‘8’:  Block nhánh trái</a:t>
            </a:r>
            <a:endParaRPr/>
          </a:p>
          <a:p>
            <a:pPr indent="0" lvl="0" marL="0" rtl="0" algn="l">
              <a:spcBef>
                <a:spcPts val="0"/>
              </a:spcBef>
              <a:spcAft>
                <a:spcPts val="0"/>
              </a:spcAft>
              <a:buNone/>
            </a:pPr>
            <a:r>
              <a:rPr lang="en-US"/>
              <a:t>‘9’:  Block nhánh phải </a:t>
            </a:r>
            <a:endParaRPr/>
          </a:p>
          <a:p>
            <a:pPr indent="0" lvl="0" marL="0" rtl="0" algn="l">
              <a:spcBef>
                <a:spcPts val="0"/>
              </a:spcBef>
              <a:spcAft>
                <a:spcPts val="0"/>
              </a:spcAft>
              <a:buNone/>
            </a:pPr>
            <a:r>
              <a:rPr lang="en-US"/>
              <a:t>‘10’:  Phì đại tâm thất trái</a:t>
            </a:r>
            <a:endParaRPr/>
          </a:p>
          <a:p>
            <a:pPr indent="0" lvl="0" marL="0" rtl="0" algn="l">
              <a:spcBef>
                <a:spcPts val="0"/>
              </a:spcBef>
              <a:spcAft>
                <a:spcPts val="0"/>
              </a:spcAft>
              <a:buNone/>
            </a:pPr>
            <a:r>
              <a:rPr lang="en-US"/>
              <a:t>‘11’:  Rung hoặc cuồng nhĩ</a:t>
            </a:r>
            <a:endParaRPr/>
          </a:p>
          <a:p>
            <a:pPr indent="0" lvl="0" marL="0" rtl="0" algn="l">
              <a:spcBef>
                <a:spcPts val="0"/>
              </a:spcBef>
              <a:spcAft>
                <a:spcPts val="0"/>
              </a:spcAft>
              <a:buNone/>
            </a:pPr>
            <a:r>
              <a:rPr lang="en-US"/>
              <a:t>‘12’: Các trường hợp còn lại</a:t>
            </a:r>
            <a:endParaRPr/>
          </a:p>
        </p:txBody>
      </p:sp>
      <p:sp>
        <p:nvSpPr>
          <p:cNvPr id="183" name="Google Shape;183;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4" name="Google Shape;184;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3" name="Google Shape;213;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4" name="Google Shape;214;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Trong bài toán phân loại rối loạn nhịp tim đa nhãn của chúng tôi, chúng tôi đã sử dụng GA Stacking để tối ưu hóa sự kết hợp của các mô hình cơ sở: CNN_1D, Gradient Boosting, XGBoost và RandomForest. Ở lớp thứ hai, chúng tôi sử dụng KNN làm các meta-classifiers để tổng hợp dự đoán từ các mô hình cơ sở, cung cấp kết quả phân loại cuối cùng. Phương pháp ensemble này giúp giải quyết hiệu quả tính chất đa nhãn của bài toán, cải thiện hiệu suất mô hình trong khi tránh được hiện tượng overfitting.</a:t>
            </a:r>
            <a:endParaRPr/>
          </a:p>
        </p:txBody>
      </p:sp>
      <p:sp>
        <p:nvSpPr>
          <p:cNvPr id="216" name="Google Shape;216;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7" name="Google Shape;217;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9" name="Google Shape;259;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0" name="Google Shape;260;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Chúng tôi đã áp dụng GA-Stacking để xây dựng một mô hình kết hợp cho việc phân loại rối loạn nhịp tim sử dụng Cơ sở dữ liệu Rối loạn Nhịp Tim Cardiac Arrhythmia, với mục tiêu phân loại chính xác các loại rối loạn nhịp tim. Mô hình kết hợp các mô hình CNN_1D, Gradient Boosting, XGBoost và Random Forest, và sử dụng GA Stacking để tối ưu hóa các dự đoán.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Mặc dù kết quả hiện tại chưa đạt như kỳ vọng, nhóm sẽ tiếp tục cải tiến mô hình, sử dụng thêm các mô hình meta. Mục tiêu là tận dụng GA-Stacking để cải thiện việc trích xuất đặc trưng và giảm thiểu lỗi phân loại, từ đó cải thiện hiệu suất phân loại.</a:t>
            </a:r>
            <a:endParaRPr/>
          </a:p>
        </p:txBody>
      </p:sp>
      <p:sp>
        <p:nvSpPr>
          <p:cNvPr id="262" name="Google Shape;262;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3" name="Google Shape;263;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12.png"/><Relationship Id="rId7" Type="http://schemas.openxmlformats.org/officeDocument/2006/relationships/image" Target="../media/image10.png"/><Relationship Id="rId8"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91" name="Shape 91"/>
        <p:cNvGrpSpPr/>
        <p:nvPr/>
      </p:nvGrpSpPr>
      <p:grpSpPr>
        <a:xfrm>
          <a:off x="0" y="0"/>
          <a:ext cx="0" cy="0"/>
          <a:chOff x="0" y="0"/>
          <a:chExt cx="0" cy="0"/>
        </a:xfrm>
      </p:grpSpPr>
      <p:grpSp>
        <p:nvGrpSpPr>
          <p:cNvPr id="92" name="Google Shape;92;p1"/>
          <p:cNvGrpSpPr/>
          <p:nvPr/>
        </p:nvGrpSpPr>
        <p:grpSpPr>
          <a:xfrm>
            <a:off x="-364808" y="9398117"/>
            <a:ext cx="19218012" cy="888883"/>
            <a:chOff x="0" y="-47625"/>
            <a:chExt cx="5061534" cy="234109"/>
          </a:xfrm>
        </p:grpSpPr>
        <p:sp>
          <p:nvSpPr>
            <p:cNvPr id="93" name="Google Shape;93;p1"/>
            <p:cNvSpPr/>
            <p:nvPr/>
          </p:nvSpPr>
          <p:spPr>
            <a:xfrm>
              <a:off x="0" y="0"/>
              <a:ext cx="5061534" cy="186484"/>
            </a:xfrm>
            <a:custGeom>
              <a:rect b="b" l="l" r="r" t="t"/>
              <a:pathLst>
                <a:path extrusionOk="0" h="186484" w="5061534">
                  <a:moveTo>
                    <a:pt x="20545" y="0"/>
                  </a:moveTo>
                  <a:lnTo>
                    <a:pt x="5040989" y="0"/>
                  </a:lnTo>
                  <a:cubicBezTo>
                    <a:pt x="5052336" y="0"/>
                    <a:pt x="5061534" y="9198"/>
                    <a:pt x="5061534" y="20545"/>
                  </a:cubicBezTo>
                  <a:lnTo>
                    <a:pt x="5061534" y="165939"/>
                  </a:lnTo>
                  <a:cubicBezTo>
                    <a:pt x="5061534" y="177286"/>
                    <a:pt x="5052336" y="186484"/>
                    <a:pt x="5040989" y="186484"/>
                  </a:cubicBezTo>
                  <a:lnTo>
                    <a:pt x="20545" y="186484"/>
                  </a:lnTo>
                  <a:cubicBezTo>
                    <a:pt x="15096" y="186484"/>
                    <a:pt x="9871" y="184320"/>
                    <a:pt x="6018" y="180467"/>
                  </a:cubicBezTo>
                  <a:cubicBezTo>
                    <a:pt x="2165" y="176614"/>
                    <a:pt x="0" y="171388"/>
                    <a:pt x="0" y="165939"/>
                  </a:cubicBezTo>
                  <a:lnTo>
                    <a:pt x="0" y="20545"/>
                  </a:lnTo>
                  <a:cubicBezTo>
                    <a:pt x="0" y="15096"/>
                    <a:pt x="2165" y="9871"/>
                    <a:pt x="6018" y="6018"/>
                  </a:cubicBezTo>
                  <a:cubicBezTo>
                    <a:pt x="9871" y="2165"/>
                    <a:pt x="15096" y="0"/>
                    <a:pt x="20545" y="0"/>
                  </a:cubicBezTo>
                  <a:close/>
                </a:path>
              </a:pathLst>
            </a:custGeom>
            <a:gradFill>
              <a:gsLst>
                <a:gs pos="0">
                  <a:srgbClr val="896650"/>
                </a:gs>
                <a:gs pos="100000">
                  <a:srgbClr val="B89A86"/>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0" y="-47625"/>
              <a:ext cx="5061534" cy="23410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1"/>
          <p:cNvSpPr/>
          <p:nvPr/>
        </p:nvSpPr>
        <p:spPr>
          <a:xfrm>
            <a:off x="2394364" y="0"/>
            <a:ext cx="13833018" cy="11695188"/>
          </a:xfrm>
          <a:custGeom>
            <a:rect b="b" l="l" r="r" t="t"/>
            <a:pathLst>
              <a:path extrusionOk="0" h="11695188" w="13833018">
                <a:moveTo>
                  <a:pt x="0" y="0"/>
                </a:moveTo>
                <a:lnTo>
                  <a:pt x="13833018" y="0"/>
                </a:lnTo>
                <a:lnTo>
                  <a:pt x="13833018" y="11695188"/>
                </a:lnTo>
                <a:lnTo>
                  <a:pt x="0" y="11695188"/>
                </a:lnTo>
                <a:lnTo>
                  <a:pt x="0" y="0"/>
                </a:lnTo>
                <a:close/>
              </a:path>
            </a:pathLst>
          </a:custGeom>
          <a:blipFill rotWithShape="1">
            <a:blip r:embed="rId3">
              <a:alphaModFix/>
            </a:blip>
            <a:stretch>
              <a:fillRect b="0" l="0" r="0" t="0"/>
            </a:stretch>
          </a:blipFill>
          <a:ln>
            <a:noFill/>
          </a:ln>
        </p:spPr>
      </p:sp>
      <p:sp>
        <p:nvSpPr>
          <p:cNvPr id="96" name="Google Shape;96;p1"/>
          <p:cNvSpPr/>
          <p:nvPr/>
        </p:nvSpPr>
        <p:spPr>
          <a:xfrm>
            <a:off x="-462398" y="6691513"/>
            <a:ext cx="3426506" cy="4114800"/>
          </a:xfrm>
          <a:custGeom>
            <a:rect b="b" l="l" r="r" t="t"/>
            <a:pathLst>
              <a:path extrusionOk="0" h="4114800" w="3426506">
                <a:moveTo>
                  <a:pt x="0" y="0"/>
                </a:moveTo>
                <a:lnTo>
                  <a:pt x="3426506" y="0"/>
                </a:lnTo>
                <a:lnTo>
                  <a:pt x="3426506" y="4114800"/>
                </a:lnTo>
                <a:lnTo>
                  <a:pt x="0" y="4114800"/>
                </a:lnTo>
                <a:lnTo>
                  <a:pt x="0" y="0"/>
                </a:lnTo>
                <a:close/>
              </a:path>
            </a:pathLst>
          </a:custGeom>
          <a:blipFill rotWithShape="1">
            <a:blip r:embed="rId4">
              <a:alphaModFix amt="75000"/>
            </a:blip>
            <a:stretch>
              <a:fillRect b="0" l="0" r="0" t="0"/>
            </a:stretch>
          </a:blipFill>
          <a:ln>
            <a:noFill/>
          </a:ln>
        </p:spPr>
      </p:sp>
      <p:sp>
        <p:nvSpPr>
          <p:cNvPr id="97" name="Google Shape;97;p1"/>
          <p:cNvSpPr/>
          <p:nvPr/>
        </p:nvSpPr>
        <p:spPr>
          <a:xfrm>
            <a:off x="15390741" y="6605788"/>
            <a:ext cx="2445286" cy="3430886"/>
          </a:xfrm>
          <a:custGeom>
            <a:rect b="b" l="l" r="r" t="t"/>
            <a:pathLst>
              <a:path extrusionOk="0" h="3430886" w="2445286">
                <a:moveTo>
                  <a:pt x="0" y="0"/>
                </a:moveTo>
                <a:lnTo>
                  <a:pt x="2445286" y="0"/>
                </a:lnTo>
                <a:lnTo>
                  <a:pt x="2445286" y="3430886"/>
                </a:lnTo>
                <a:lnTo>
                  <a:pt x="0" y="3430886"/>
                </a:lnTo>
                <a:lnTo>
                  <a:pt x="0" y="0"/>
                </a:lnTo>
                <a:close/>
              </a:path>
            </a:pathLst>
          </a:custGeom>
          <a:blipFill rotWithShape="1">
            <a:blip r:embed="rId5">
              <a:alphaModFix amt="68000"/>
            </a:blip>
            <a:stretch>
              <a:fillRect b="0" l="0" r="0" t="0"/>
            </a:stretch>
          </a:blipFill>
          <a:ln>
            <a:noFill/>
          </a:ln>
        </p:spPr>
      </p:sp>
      <p:sp>
        <p:nvSpPr>
          <p:cNvPr id="98" name="Google Shape;98;p1"/>
          <p:cNvSpPr/>
          <p:nvPr/>
        </p:nvSpPr>
        <p:spPr>
          <a:xfrm>
            <a:off x="-462398" y="-417878"/>
            <a:ext cx="2124970" cy="2124970"/>
          </a:xfrm>
          <a:custGeom>
            <a:rect b="b" l="l" r="r" t="t"/>
            <a:pathLst>
              <a:path extrusionOk="0" h="2124970" w="2124970">
                <a:moveTo>
                  <a:pt x="0" y="0"/>
                </a:moveTo>
                <a:lnTo>
                  <a:pt x="2124970" y="0"/>
                </a:lnTo>
                <a:lnTo>
                  <a:pt x="2124970" y="2124970"/>
                </a:lnTo>
                <a:lnTo>
                  <a:pt x="0" y="2124970"/>
                </a:lnTo>
                <a:lnTo>
                  <a:pt x="0" y="0"/>
                </a:lnTo>
                <a:close/>
              </a:path>
            </a:pathLst>
          </a:custGeom>
          <a:blipFill rotWithShape="1">
            <a:blip r:embed="rId6">
              <a:alphaModFix/>
            </a:blip>
            <a:stretch>
              <a:fillRect b="0" l="0" r="0" t="0"/>
            </a:stretch>
          </a:blipFill>
          <a:ln>
            <a:noFill/>
          </a:ln>
        </p:spPr>
      </p:sp>
      <p:sp>
        <p:nvSpPr>
          <p:cNvPr id="99" name="Google Shape;99;p1"/>
          <p:cNvSpPr txBox="1"/>
          <p:nvPr/>
        </p:nvSpPr>
        <p:spPr>
          <a:xfrm>
            <a:off x="3097556" y="2774261"/>
            <a:ext cx="12426600" cy="39183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0" lang="en-US" sz="6699" u="none" cap="none" strike="noStrike">
                <a:solidFill>
                  <a:srgbClr val="000000"/>
                </a:solidFill>
                <a:latin typeface="Cabin"/>
                <a:ea typeface="Cabin"/>
                <a:cs typeface="Cabin"/>
                <a:sym typeface="Cabin"/>
              </a:rPr>
              <a:t>Classification of Cardiac Arrhythmia Using GA Stacking in Ensemble Learning</a:t>
            </a:r>
            <a:endParaRPr/>
          </a:p>
        </p:txBody>
      </p:sp>
      <p:sp>
        <p:nvSpPr>
          <p:cNvPr id="100" name="Google Shape;100;p1"/>
          <p:cNvSpPr txBox="1"/>
          <p:nvPr/>
        </p:nvSpPr>
        <p:spPr>
          <a:xfrm>
            <a:off x="8828695" y="6951131"/>
            <a:ext cx="9007200" cy="1754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Team 05:</a:t>
            </a:r>
            <a:endParaRPr/>
          </a:p>
          <a:p>
            <a:pPr indent="-323850" lvl="1" marL="647700"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Cabin"/>
                <a:ea typeface="Cabin"/>
                <a:cs typeface="Cabin"/>
                <a:sym typeface="Cabin"/>
              </a:rPr>
              <a:t>Nguyễn Lê Vy - 21522811</a:t>
            </a:r>
            <a:endParaRPr/>
          </a:p>
          <a:p>
            <a:pPr indent="-323850" lvl="1" marL="647700" marR="0" rtl="0" algn="l">
              <a:lnSpc>
                <a:spcPct val="140000"/>
              </a:lnSpc>
              <a:spcBef>
                <a:spcPts val="0"/>
              </a:spcBef>
              <a:spcAft>
                <a:spcPts val="0"/>
              </a:spcAft>
              <a:buClr>
                <a:srgbClr val="000000"/>
              </a:buClr>
              <a:buSzPts val="3000"/>
              <a:buFont typeface="Arial"/>
              <a:buChar char="•"/>
            </a:pPr>
            <a:r>
              <a:rPr b="0" i="0" lang="en-US" sz="3000" u="none" cap="none" strike="noStrike">
                <a:solidFill>
                  <a:srgbClr val="000000"/>
                </a:solidFill>
                <a:latin typeface="Cabin"/>
                <a:ea typeface="Cabin"/>
                <a:cs typeface="Cabin"/>
                <a:sym typeface="Cabin"/>
              </a:rPr>
              <a:t>Nguyễn Thị Mai Trinh - 21522718</a:t>
            </a:r>
            <a:endParaRPr/>
          </a:p>
        </p:txBody>
      </p:sp>
      <p:sp>
        <p:nvSpPr>
          <p:cNvPr id="101" name="Google Shape;101;p1"/>
          <p:cNvSpPr txBox="1"/>
          <p:nvPr/>
        </p:nvSpPr>
        <p:spPr>
          <a:xfrm>
            <a:off x="3527093" y="1215735"/>
            <a:ext cx="9007333" cy="52388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DS106.P11 - Optimization and Applications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105" name="Shape 105"/>
        <p:cNvGrpSpPr/>
        <p:nvPr/>
      </p:nvGrpSpPr>
      <p:grpSpPr>
        <a:xfrm>
          <a:off x="0" y="0"/>
          <a:ext cx="0" cy="0"/>
          <a:chOff x="0" y="0"/>
          <a:chExt cx="0" cy="0"/>
        </a:xfrm>
      </p:grpSpPr>
      <p:sp>
        <p:nvSpPr>
          <p:cNvPr id="106" name="Google Shape;106;p2"/>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107" name="Google Shape;107;p2"/>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108" name="Google Shape;108;p2"/>
          <p:cNvSpPr/>
          <p:nvPr/>
        </p:nvSpPr>
        <p:spPr>
          <a:xfrm>
            <a:off x="2368042" y="771116"/>
            <a:ext cx="13988174" cy="9026276"/>
          </a:xfrm>
          <a:custGeom>
            <a:rect b="b" l="l" r="r" t="t"/>
            <a:pathLst>
              <a:path extrusionOk="0" h="9026276" w="13988174">
                <a:moveTo>
                  <a:pt x="0" y="0"/>
                </a:moveTo>
                <a:lnTo>
                  <a:pt x="13988173" y="0"/>
                </a:lnTo>
                <a:lnTo>
                  <a:pt x="13988173" y="9026276"/>
                </a:lnTo>
                <a:lnTo>
                  <a:pt x="0" y="9026276"/>
                </a:lnTo>
                <a:lnTo>
                  <a:pt x="0" y="0"/>
                </a:lnTo>
                <a:close/>
              </a:path>
            </a:pathLst>
          </a:custGeom>
          <a:blipFill rotWithShape="1">
            <a:blip r:embed="rId5">
              <a:alphaModFix/>
            </a:blip>
            <a:stretch>
              <a:fillRect b="0" l="0" r="0" t="0"/>
            </a:stretch>
          </a:blipFill>
          <a:ln>
            <a:noFill/>
          </a:ln>
        </p:spPr>
      </p:sp>
      <p:sp>
        <p:nvSpPr>
          <p:cNvPr id="109" name="Google Shape;109;p2"/>
          <p:cNvSpPr/>
          <p:nvPr/>
        </p:nvSpPr>
        <p:spPr>
          <a:xfrm>
            <a:off x="3979121" y="3116676"/>
            <a:ext cx="1219836" cy="996598"/>
          </a:xfrm>
          <a:custGeom>
            <a:rect b="b" l="l" r="r" t="t"/>
            <a:pathLst>
              <a:path extrusionOk="0" h="996598" w="1219836">
                <a:moveTo>
                  <a:pt x="0" y="0"/>
                </a:moveTo>
                <a:lnTo>
                  <a:pt x="1219836" y="0"/>
                </a:lnTo>
                <a:lnTo>
                  <a:pt x="1219836" y="996598"/>
                </a:lnTo>
                <a:lnTo>
                  <a:pt x="0" y="996598"/>
                </a:lnTo>
                <a:lnTo>
                  <a:pt x="0" y="0"/>
                </a:lnTo>
                <a:close/>
              </a:path>
            </a:pathLst>
          </a:custGeom>
          <a:blipFill rotWithShape="1">
            <a:blip r:embed="rId6">
              <a:alphaModFix/>
            </a:blip>
            <a:stretch>
              <a:fillRect b="0" l="0" r="0" t="0"/>
            </a:stretch>
          </a:blipFill>
          <a:ln>
            <a:noFill/>
          </a:ln>
        </p:spPr>
      </p:sp>
      <p:sp>
        <p:nvSpPr>
          <p:cNvPr id="110" name="Google Shape;110;p2"/>
          <p:cNvSpPr/>
          <p:nvPr/>
        </p:nvSpPr>
        <p:spPr>
          <a:xfrm>
            <a:off x="7058354" y="3116676"/>
            <a:ext cx="1219836" cy="996598"/>
          </a:xfrm>
          <a:custGeom>
            <a:rect b="b" l="l" r="r" t="t"/>
            <a:pathLst>
              <a:path extrusionOk="0" h="996598" w="1219836">
                <a:moveTo>
                  <a:pt x="0" y="0"/>
                </a:moveTo>
                <a:lnTo>
                  <a:pt x="1219836" y="0"/>
                </a:lnTo>
                <a:lnTo>
                  <a:pt x="1219836" y="996598"/>
                </a:lnTo>
                <a:lnTo>
                  <a:pt x="0" y="996598"/>
                </a:lnTo>
                <a:lnTo>
                  <a:pt x="0" y="0"/>
                </a:lnTo>
                <a:close/>
              </a:path>
            </a:pathLst>
          </a:custGeom>
          <a:blipFill rotWithShape="1">
            <a:blip r:embed="rId6">
              <a:alphaModFix/>
            </a:blip>
            <a:stretch>
              <a:fillRect b="0" l="0" r="0" t="0"/>
            </a:stretch>
          </a:blipFill>
          <a:ln>
            <a:noFill/>
          </a:ln>
        </p:spPr>
      </p:sp>
      <p:sp>
        <p:nvSpPr>
          <p:cNvPr id="111" name="Google Shape;111;p2"/>
          <p:cNvSpPr/>
          <p:nvPr/>
        </p:nvSpPr>
        <p:spPr>
          <a:xfrm>
            <a:off x="10137587" y="3116676"/>
            <a:ext cx="1219836" cy="996598"/>
          </a:xfrm>
          <a:custGeom>
            <a:rect b="b" l="l" r="r" t="t"/>
            <a:pathLst>
              <a:path extrusionOk="0" h="996598" w="1219836">
                <a:moveTo>
                  <a:pt x="0" y="0"/>
                </a:moveTo>
                <a:lnTo>
                  <a:pt x="1219836" y="0"/>
                </a:lnTo>
                <a:lnTo>
                  <a:pt x="1219836" y="996598"/>
                </a:lnTo>
                <a:lnTo>
                  <a:pt x="0" y="996598"/>
                </a:lnTo>
                <a:lnTo>
                  <a:pt x="0" y="0"/>
                </a:lnTo>
                <a:close/>
              </a:path>
            </a:pathLst>
          </a:custGeom>
          <a:blipFill rotWithShape="1">
            <a:blip r:embed="rId6">
              <a:alphaModFix/>
            </a:blip>
            <a:stretch>
              <a:fillRect b="0" l="0" r="0" t="0"/>
            </a:stretch>
          </a:blipFill>
          <a:ln>
            <a:noFill/>
          </a:ln>
        </p:spPr>
      </p:sp>
      <p:sp>
        <p:nvSpPr>
          <p:cNvPr id="112" name="Google Shape;112;p2"/>
          <p:cNvSpPr/>
          <p:nvPr/>
        </p:nvSpPr>
        <p:spPr>
          <a:xfrm>
            <a:off x="13216820" y="3116676"/>
            <a:ext cx="1219836" cy="996598"/>
          </a:xfrm>
          <a:custGeom>
            <a:rect b="b" l="l" r="r" t="t"/>
            <a:pathLst>
              <a:path extrusionOk="0" h="996598" w="1219836">
                <a:moveTo>
                  <a:pt x="0" y="0"/>
                </a:moveTo>
                <a:lnTo>
                  <a:pt x="1219836" y="0"/>
                </a:lnTo>
                <a:lnTo>
                  <a:pt x="1219836" y="996598"/>
                </a:lnTo>
                <a:lnTo>
                  <a:pt x="0" y="996598"/>
                </a:lnTo>
                <a:lnTo>
                  <a:pt x="0" y="0"/>
                </a:lnTo>
                <a:close/>
              </a:path>
            </a:pathLst>
          </a:custGeom>
          <a:blipFill rotWithShape="1">
            <a:blip r:embed="rId6">
              <a:alphaModFix/>
            </a:blip>
            <a:stretch>
              <a:fillRect b="0" l="0" r="0" t="0"/>
            </a:stretch>
          </a:blipFill>
          <a:ln>
            <a:noFill/>
          </a:ln>
        </p:spPr>
      </p:sp>
      <p:sp>
        <p:nvSpPr>
          <p:cNvPr id="113" name="Google Shape;113;p2"/>
          <p:cNvSpPr/>
          <p:nvPr/>
        </p:nvSpPr>
        <p:spPr>
          <a:xfrm>
            <a:off x="5348605" y="5973120"/>
            <a:ext cx="1225001" cy="1000818"/>
          </a:xfrm>
          <a:custGeom>
            <a:rect b="b" l="l" r="r" t="t"/>
            <a:pathLst>
              <a:path extrusionOk="0" h="1000818" w="1225001">
                <a:moveTo>
                  <a:pt x="0" y="0"/>
                </a:moveTo>
                <a:lnTo>
                  <a:pt x="1225001" y="0"/>
                </a:lnTo>
                <a:lnTo>
                  <a:pt x="1225001" y="1000817"/>
                </a:lnTo>
                <a:lnTo>
                  <a:pt x="0" y="1000817"/>
                </a:lnTo>
                <a:lnTo>
                  <a:pt x="0" y="0"/>
                </a:lnTo>
                <a:close/>
              </a:path>
            </a:pathLst>
          </a:custGeom>
          <a:blipFill rotWithShape="1">
            <a:blip r:embed="rId6">
              <a:alphaModFix/>
            </a:blip>
            <a:stretch>
              <a:fillRect b="0" l="0" r="0" t="0"/>
            </a:stretch>
          </a:blipFill>
          <a:ln>
            <a:noFill/>
          </a:ln>
        </p:spPr>
      </p:sp>
      <p:sp>
        <p:nvSpPr>
          <p:cNvPr id="114" name="Google Shape;114;p2"/>
          <p:cNvSpPr/>
          <p:nvPr/>
        </p:nvSpPr>
        <p:spPr>
          <a:xfrm>
            <a:off x="8440876" y="5973120"/>
            <a:ext cx="1225001" cy="1000818"/>
          </a:xfrm>
          <a:custGeom>
            <a:rect b="b" l="l" r="r" t="t"/>
            <a:pathLst>
              <a:path extrusionOk="0" h="1000818" w="1225001">
                <a:moveTo>
                  <a:pt x="0" y="0"/>
                </a:moveTo>
                <a:lnTo>
                  <a:pt x="1225001" y="0"/>
                </a:lnTo>
                <a:lnTo>
                  <a:pt x="1225001" y="1000817"/>
                </a:lnTo>
                <a:lnTo>
                  <a:pt x="0" y="1000817"/>
                </a:lnTo>
                <a:lnTo>
                  <a:pt x="0" y="0"/>
                </a:lnTo>
                <a:close/>
              </a:path>
            </a:pathLst>
          </a:custGeom>
          <a:blipFill rotWithShape="1">
            <a:blip r:embed="rId6">
              <a:alphaModFix/>
            </a:blip>
            <a:stretch>
              <a:fillRect b="0" l="0" r="0" t="0"/>
            </a:stretch>
          </a:blipFill>
          <a:ln>
            <a:noFill/>
          </a:ln>
        </p:spPr>
      </p:sp>
      <p:sp>
        <p:nvSpPr>
          <p:cNvPr id="115" name="Google Shape;115;p2"/>
          <p:cNvSpPr/>
          <p:nvPr/>
        </p:nvSpPr>
        <p:spPr>
          <a:xfrm>
            <a:off x="11533148" y="5973120"/>
            <a:ext cx="1225001" cy="1000818"/>
          </a:xfrm>
          <a:custGeom>
            <a:rect b="b" l="l" r="r" t="t"/>
            <a:pathLst>
              <a:path extrusionOk="0" h="1000818" w="1225001">
                <a:moveTo>
                  <a:pt x="0" y="0"/>
                </a:moveTo>
                <a:lnTo>
                  <a:pt x="1225001" y="0"/>
                </a:lnTo>
                <a:lnTo>
                  <a:pt x="1225001" y="1000817"/>
                </a:lnTo>
                <a:lnTo>
                  <a:pt x="0" y="1000817"/>
                </a:lnTo>
                <a:lnTo>
                  <a:pt x="0" y="0"/>
                </a:lnTo>
                <a:close/>
              </a:path>
            </a:pathLst>
          </a:custGeom>
          <a:blipFill rotWithShape="1">
            <a:blip r:embed="rId6">
              <a:alphaModFix/>
            </a:blip>
            <a:stretch>
              <a:fillRect b="0" l="0" r="0" t="0"/>
            </a:stretch>
          </a:blipFill>
          <a:ln>
            <a:noFill/>
          </a:ln>
        </p:spPr>
      </p:sp>
      <p:grpSp>
        <p:nvGrpSpPr>
          <p:cNvPr id="116" name="Google Shape;116;p2"/>
          <p:cNvGrpSpPr/>
          <p:nvPr/>
        </p:nvGrpSpPr>
        <p:grpSpPr>
          <a:xfrm>
            <a:off x="14068994" y="8343185"/>
            <a:ext cx="1177534" cy="584035"/>
            <a:chOff x="0" y="-38100"/>
            <a:chExt cx="334083" cy="165700"/>
          </a:xfrm>
        </p:grpSpPr>
        <p:sp>
          <p:nvSpPr>
            <p:cNvPr id="117" name="Google Shape;117;p2"/>
            <p:cNvSpPr/>
            <p:nvPr/>
          </p:nvSpPr>
          <p:spPr>
            <a:xfrm>
              <a:off x="0" y="0"/>
              <a:ext cx="334083" cy="127600"/>
            </a:xfrm>
            <a:custGeom>
              <a:rect b="b" l="l" r="r" t="t"/>
              <a:pathLst>
                <a:path extrusionOk="0" h="127600" w="334083">
                  <a:moveTo>
                    <a:pt x="63800" y="0"/>
                  </a:moveTo>
                  <a:lnTo>
                    <a:pt x="270284" y="0"/>
                  </a:lnTo>
                  <a:cubicBezTo>
                    <a:pt x="287204" y="0"/>
                    <a:pt x="303432" y="6722"/>
                    <a:pt x="315397" y="18687"/>
                  </a:cubicBezTo>
                  <a:cubicBezTo>
                    <a:pt x="327362" y="30651"/>
                    <a:pt x="334083" y="46879"/>
                    <a:pt x="334083" y="63800"/>
                  </a:cubicBezTo>
                  <a:lnTo>
                    <a:pt x="334083" y="63800"/>
                  </a:lnTo>
                  <a:cubicBezTo>
                    <a:pt x="334083" y="80721"/>
                    <a:pt x="327362" y="96948"/>
                    <a:pt x="315397" y="108913"/>
                  </a:cubicBezTo>
                  <a:cubicBezTo>
                    <a:pt x="303432" y="120878"/>
                    <a:pt x="287204" y="127600"/>
                    <a:pt x="270284" y="127600"/>
                  </a:cubicBezTo>
                  <a:lnTo>
                    <a:pt x="63800" y="127600"/>
                  </a:lnTo>
                  <a:cubicBezTo>
                    <a:pt x="46879" y="127600"/>
                    <a:pt x="30651" y="120878"/>
                    <a:pt x="18687" y="108913"/>
                  </a:cubicBezTo>
                  <a:cubicBezTo>
                    <a:pt x="6722" y="96948"/>
                    <a:pt x="0" y="80721"/>
                    <a:pt x="0" y="63800"/>
                  </a:cubicBezTo>
                  <a:lnTo>
                    <a:pt x="0" y="63800"/>
                  </a:lnTo>
                  <a:cubicBezTo>
                    <a:pt x="0" y="46879"/>
                    <a:pt x="6722" y="30651"/>
                    <a:pt x="18687" y="18687"/>
                  </a:cubicBezTo>
                  <a:cubicBezTo>
                    <a:pt x="30651" y="6722"/>
                    <a:pt x="46879" y="0"/>
                    <a:pt x="63800" y="0"/>
                  </a:cubicBezTo>
                  <a:close/>
                </a:path>
              </a:pathLst>
            </a:custGeom>
            <a:solidFill>
              <a:srgbClr val="B2D2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txBox="1"/>
            <p:nvPr/>
          </p:nvSpPr>
          <p:spPr>
            <a:xfrm>
              <a:off x="0" y="-38100"/>
              <a:ext cx="334083" cy="165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NEXT</a:t>
              </a:r>
              <a:endParaRPr/>
            </a:p>
          </p:txBody>
        </p:sp>
      </p:grpSp>
      <p:grpSp>
        <p:nvGrpSpPr>
          <p:cNvPr id="119" name="Google Shape;119;p2"/>
          <p:cNvGrpSpPr/>
          <p:nvPr/>
        </p:nvGrpSpPr>
        <p:grpSpPr>
          <a:xfrm>
            <a:off x="3041472" y="8343185"/>
            <a:ext cx="1177534" cy="584035"/>
            <a:chOff x="0" y="-38100"/>
            <a:chExt cx="334083" cy="165700"/>
          </a:xfrm>
        </p:grpSpPr>
        <p:sp>
          <p:nvSpPr>
            <p:cNvPr id="120" name="Google Shape;120;p2"/>
            <p:cNvSpPr/>
            <p:nvPr/>
          </p:nvSpPr>
          <p:spPr>
            <a:xfrm>
              <a:off x="0" y="0"/>
              <a:ext cx="334083" cy="127600"/>
            </a:xfrm>
            <a:custGeom>
              <a:rect b="b" l="l" r="r" t="t"/>
              <a:pathLst>
                <a:path extrusionOk="0" h="127600" w="334083">
                  <a:moveTo>
                    <a:pt x="63800" y="0"/>
                  </a:moveTo>
                  <a:lnTo>
                    <a:pt x="270284" y="0"/>
                  </a:lnTo>
                  <a:cubicBezTo>
                    <a:pt x="287204" y="0"/>
                    <a:pt x="303432" y="6722"/>
                    <a:pt x="315397" y="18687"/>
                  </a:cubicBezTo>
                  <a:cubicBezTo>
                    <a:pt x="327362" y="30651"/>
                    <a:pt x="334083" y="46879"/>
                    <a:pt x="334083" y="63800"/>
                  </a:cubicBezTo>
                  <a:lnTo>
                    <a:pt x="334083" y="63800"/>
                  </a:lnTo>
                  <a:cubicBezTo>
                    <a:pt x="334083" y="80721"/>
                    <a:pt x="327362" y="96948"/>
                    <a:pt x="315397" y="108913"/>
                  </a:cubicBezTo>
                  <a:cubicBezTo>
                    <a:pt x="303432" y="120878"/>
                    <a:pt x="287204" y="127600"/>
                    <a:pt x="270284" y="127600"/>
                  </a:cubicBezTo>
                  <a:lnTo>
                    <a:pt x="63800" y="127600"/>
                  </a:lnTo>
                  <a:cubicBezTo>
                    <a:pt x="46879" y="127600"/>
                    <a:pt x="30651" y="120878"/>
                    <a:pt x="18687" y="108913"/>
                  </a:cubicBezTo>
                  <a:cubicBezTo>
                    <a:pt x="6722" y="96948"/>
                    <a:pt x="0" y="80721"/>
                    <a:pt x="0" y="63800"/>
                  </a:cubicBezTo>
                  <a:lnTo>
                    <a:pt x="0" y="63800"/>
                  </a:lnTo>
                  <a:cubicBezTo>
                    <a:pt x="0" y="46879"/>
                    <a:pt x="6722" y="30651"/>
                    <a:pt x="18687" y="18687"/>
                  </a:cubicBezTo>
                  <a:cubicBezTo>
                    <a:pt x="30651" y="6722"/>
                    <a:pt x="46879" y="0"/>
                    <a:pt x="63800" y="0"/>
                  </a:cubicBezTo>
                  <a:close/>
                </a:path>
              </a:pathLst>
            </a:custGeom>
            <a:solidFill>
              <a:srgbClr val="B2D2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txBox="1"/>
            <p:nvPr/>
          </p:nvSpPr>
          <p:spPr>
            <a:xfrm>
              <a:off x="0" y="-38100"/>
              <a:ext cx="334083" cy="165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BACK</a:t>
              </a:r>
              <a:endParaRPr/>
            </a:p>
          </p:txBody>
        </p:sp>
      </p:grpSp>
      <p:sp>
        <p:nvSpPr>
          <p:cNvPr id="122" name="Google Shape;122;p2"/>
          <p:cNvSpPr txBox="1"/>
          <p:nvPr/>
        </p:nvSpPr>
        <p:spPr>
          <a:xfrm>
            <a:off x="6098125" y="833931"/>
            <a:ext cx="6219527" cy="8541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Cabin"/>
                <a:ea typeface="Cabin"/>
                <a:cs typeface="Cabin"/>
                <a:sym typeface="Cabin"/>
              </a:rPr>
              <a:t>CONTENT :</a:t>
            </a:r>
            <a:endParaRPr/>
          </a:p>
        </p:txBody>
      </p:sp>
      <p:sp>
        <p:nvSpPr>
          <p:cNvPr id="123" name="Google Shape;123;p2"/>
          <p:cNvSpPr txBox="1"/>
          <p:nvPr/>
        </p:nvSpPr>
        <p:spPr>
          <a:xfrm>
            <a:off x="4052393" y="3416875"/>
            <a:ext cx="1054517" cy="523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01</a:t>
            </a:r>
            <a:endParaRPr/>
          </a:p>
        </p:txBody>
      </p:sp>
      <p:sp>
        <p:nvSpPr>
          <p:cNvPr id="124" name="Google Shape;124;p2"/>
          <p:cNvSpPr txBox="1"/>
          <p:nvPr/>
        </p:nvSpPr>
        <p:spPr>
          <a:xfrm>
            <a:off x="3213459" y="4201151"/>
            <a:ext cx="2770210" cy="3067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INTRODUCTION</a:t>
            </a:r>
            <a:endParaRPr/>
          </a:p>
        </p:txBody>
      </p:sp>
      <p:sp>
        <p:nvSpPr>
          <p:cNvPr id="125" name="Google Shape;125;p2"/>
          <p:cNvSpPr txBox="1"/>
          <p:nvPr/>
        </p:nvSpPr>
        <p:spPr>
          <a:xfrm>
            <a:off x="7131626" y="3416875"/>
            <a:ext cx="1054517" cy="523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02</a:t>
            </a:r>
            <a:endParaRPr/>
          </a:p>
        </p:txBody>
      </p:sp>
      <p:sp>
        <p:nvSpPr>
          <p:cNvPr id="126" name="Google Shape;126;p2"/>
          <p:cNvSpPr txBox="1"/>
          <p:nvPr/>
        </p:nvSpPr>
        <p:spPr>
          <a:xfrm>
            <a:off x="6283167" y="4201151"/>
            <a:ext cx="2770210" cy="3067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RELATED WORD</a:t>
            </a:r>
            <a:endParaRPr/>
          </a:p>
        </p:txBody>
      </p:sp>
      <p:sp>
        <p:nvSpPr>
          <p:cNvPr id="127" name="Google Shape;127;p2"/>
          <p:cNvSpPr txBox="1"/>
          <p:nvPr/>
        </p:nvSpPr>
        <p:spPr>
          <a:xfrm>
            <a:off x="10210859" y="3416875"/>
            <a:ext cx="1054517" cy="523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03</a:t>
            </a:r>
            <a:endParaRPr/>
          </a:p>
        </p:txBody>
      </p:sp>
      <p:sp>
        <p:nvSpPr>
          <p:cNvPr id="128" name="Google Shape;128;p2"/>
          <p:cNvSpPr txBox="1"/>
          <p:nvPr/>
        </p:nvSpPr>
        <p:spPr>
          <a:xfrm>
            <a:off x="9362400" y="4201151"/>
            <a:ext cx="2770210" cy="3067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DATABASE</a:t>
            </a:r>
            <a:endParaRPr/>
          </a:p>
        </p:txBody>
      </p:sp>
      <p:sp>
        <p:nvSpPr>
          <p:cNvPr id="129" name="Google Shape;129;p2"/>
          <p:cNvSpPr txBox="1"/>
          <p:nvPr/>
        </p:nvSpPr>
        <p:spPr>
          <a:xfrm>
            <a:off x="13290092" y="3416875"/>
            <a:ext cx="1054517" cy="523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04</a:t>
            </a:r>
            <a:endParaRPr/>
          </a:p>
        </p:txBody>
      </p:sp>
      <p:sp>
        <p:nvSpPr>
          <p:cNvPr id="130" name="Google Shape;130;p2"/>
          <p:cNvSpPr txBox="1"/>
          <p:nvPr/>
        </p:nvSpPr>
        <p:spPr>
          <a:xfrm>
            <a:off x="12441633" y="4201151"/>
            <a:ext cx="2770210" cy="62105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IMPLEMENTATION METHOD</a:t>
            </a:r>
            <a:endParaRPr/>
          </a:p>
        </p:txBody>
      </p:sp>
      <p:sp>
        <p:nvSpPr>
          <p:cNvPr id="131" name="Google Shape;131;p2"/>
          <p:cNvSpPr txBox="1"/>
          <p:nvPr/>
        </p:nvSpPr>
        <p:spPr>
          <a:xfrm>
            <a:off x="5422188" y="6274872"/>
            <a:ext cx="1058982" cy="523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05</a:t>
            </a:r>
            <a:endParaRPr/>
          </a:p>
        </p:txBody>
      </p:sp>
      <p:sp>
        <p:nvSpPr>
          <p:cNvPr id="132" name="Google Shape;132;p2"/>
          <p:cNvSpPr txBox="1"/>
          <p:nvPr/>
        </p:nvSpPr>
        <p:spPr>
          <a:xfrm>
            <a:off x="4570136" y="7062347"/>
            <a:ext cx="2781940" cy="3067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RESULT</a:t>
            </a:r>
            <a:endParaRPr/>
          </a:p>
        </p:txBody>
      </p:sp>
      <p:sp>
        <p:nvSpPr>
          <p:cNvPr id="133" name="Google Shape;133;p2"/>
          <p:cNvSpPr txBox="1"/>
          <p:nvPr/>
        </p:nvSpPr>
        <p:spPr>
          <a:xfrm>
            <a:off x="8514459" y="6274872"/>
            <a:ext cx="1058982" cy="523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06</a:t>
            </a:r>
            <a:endParaRPr/>
          </a:p>
        </p:txBody>
      </p:sp>
      <p:sp>
        <p:nvSpPr>
          <p:cNvPr id="134" name="Google Shape;134;p2"/>
          <p:cNvSpPr txBox="1"/>
          <p:nvPr/>
        </p:nvSpPr>
        <p:spPr>
          <a:xfrm>
            <a:off x="7662407" y="7062347"/>
            <a:ext cx="2781940" cy="3067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CONCLUSION</a:t>
            </a:r>
            <a:endParaRPr/>
          </a:p>
        </p:txBody>
      </p:sp>
      <p:sp>
        <p:nvSpPr>
          <p:cNvPr id="135" name="Google Shape;135;p2"/>
          <p:cNvSpPr txBox="1"/>
          <p:nvPr/>
        </p:nvSpPr>
        <p:spPr>
          <a:xfrm>
            <a:off x="11606730" y="6274872"/>
            <a:ext cx="1058982" cy="52388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07</a:t>
            </a:r>
            <a:endParaRPr/>
          </a:p>
        </p:txBody>
      </p:sp>
      <p:sp>
        <p:nvSpPr>
          <p:cNvPr id="136" name="Google Shape;136;p2"/>
          <p:cNvSpPr txBox="1"/>
          <p:nvPr/>
        </p:nvSpPr>
        <p:spPr>
          <a:xfrm>
            <a:off x="10754678" y="7062347"/>
            <a:ext cx="2781940" cy="3067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1800" u="none" cap="none" strike="noStrike">
                <a:solidFill>
                  <a:srgbClr val="000000"/>
                </a:solidFill>
                <a:latin typeface="Cabin"/>
                <a:ea typeface="Cabin"/>
                <a:cs typeface="Cabin"/>
                <a:sym typeface="Cabin"/>
              </a:rPr>
              <a:t>DOCUMENTATION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144" name="Shape 144"/>
        <p:cNvGrpSpPr/>
        <p:nvPr/>
      </p:nvGrpSpPr>
      <p:grpSpPr>
        <a:xfrm>
          <a:off x="0" y="0"/>
          <a:ext cx="0" cy="0"/>
          <a:chOff x="0" y="0"/>
          <a:chExt cx="0" cy="0"/>
        </a:xfrm>
      </p:grpSpPr>
      <p:sp>
        <p:nvSpPr>
          <p:cNvPr id="145" name="Google Shape;145;p3"/>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146" name="Google Shape;146;p3"/>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147" name="Google Shape;147;p3"/>
          <p:cNvSpPr/>
          <p:nvPr/>
        </p:nvSpPr>
        <p:spPr>
          <a:xfrm>
            <a:off x="2413502" y="800450"/>
            <a:ext cx="13623154" cy="8790737"/>
          </a:xfrm>
          <a:custGeom>
            <a:rect b="b" l="l" r="r" t="t"/>
            <a:pathLst>
              <a:path extrusionOk="0" h="8790737" w="13623154">
                <a:moveTo>
                  <a:pt x="0" y="0"/>
                </a:moveTo>
                <a:lnTo>
                  <a:pt x="13623154" y="0"/>
                </a:lnTo>
                <a:lnTo>
                  <a:pt x="13623154" y="8790737"/>
                </a:lnTo>
                <a:lnTo>
                  <a:pt x="0" y="8790737"/>
                </a:lnTo>
                <a:lnTo>
                  <a:pt x="0" y="0"/>
                </a:lnTo>
                <a:close/>
              </a:path>
            </a:pathLst>
          </a:custGeom>
          <a:blipFill rotWithShape="1">
            <a:blip r:embed="rId5">
              <a:alphaModFix/>
            </a:blip>
            <a:stretch>
              <a:fillRect b="0" l="0" r="0" t="0"/>
            </a:stretch>
          </a:blipFill>
          <a:ln>
            <a:noFill/>
          </a:ln>
        </p:spPr>
      </p:sp>
      <p:sp>
        <p:nvSpPr>
          <p:cNvPr id="148" name="Google Shape;148;p3"/>
          <p:cNvSpPr txBox="1"/>
          <p:nvPr/>
        </p:nvSpPr>
        <p:spPr>
          <a:xfrm>
            <a:off x="6098125" y="910131"/>
            <a:ext cx="6219527" cy="8541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Cabin"/>
                <a:ea typeface="Cabin"/>
                <a:cs typeface="Cabin"/>
                <a:sym typeface="Cabin"/>
              </a:rPr>
              <a:t>I. INTRODUCTION</a:t>
            </a:r>
            <a:endParaRPr/>
          </a:p>
        </p:txBody>
      </p:sp>
      <p:sp>
        <p:nvSpPr>
          <p:cNvPr id="149" name="Google Shape;149;p3"/>
          <p:cNvSpPr txBox="1"/>
          <p:nvPr/>
        </p:nvSpPr>
        <p:spPr>
          <a:xfrm>
            <a:off x="3545673" y="2373354"/>
            <a:ext cx="11358812" cy="3816192"/>
          </a:xfrm>
          <a:prstGeom prst="rect">
            <a:avLst/>
          </a:prstGeom>
          <a:noFill/>
          <a:ln>
            <a:noFill/>
          </a:ln>
        </p:spPr>
        <p:txBody>
          <a:bodyPr anchorCtr="0" anchor="t" bIns="0" lIns="0" spcFirstLastPara="1" rIns="0" wrap="square" tIns="0">
            <a:spAutoFit/>
          </a:bodyPr>
          <a:lstStyle/>
          <a:p>
            <a:pPr indent="0" lvl="0" marL="0" marR="0" rtl="0" algn="l">
              <a:lnSpc>
                <a:spcPct val="220042"/>
              </a:lnSpc>
              <a:spcBef>
                <a:spcPts val="0"/>
              </a:spcBef>
              <a:spcAft>
                <a:spcPts val="0"/>
              </a:spcAft>
              <a:buNone/>
            </a:pPr>
            <a:r>
              <a:rPr b="0" i="0" lang="en-US" sz="2799" u="none" cap="none" strike="noStrike">
                <a:solidFill>
                  <a:srgbClr val="000000"/>
                </a:solidFill>
                <a:latin typeface="Cabin"/>
                <a:ea typeface="Cabin"/>
                <a:cs typeface="Cabin"/>
                <a:sym typeface="Cabin"/>
              </a:rPr>
              <a:t>       We build a hybrid model combining CNN_1D, Gradient Boosting, XGBoost, RandomForest, GBM and SVC optimized using GA Stacking, to classify arrhythmias. Our team expects the model to outperform individual methods, demonstrating GA Stacking's potential for automated medical diagnostics.</a:t>
            </a:r>
            <a:endParaRPr/>
          </a:p>
        </p:txBody>
      </p:sp>
      <p:sp>
        <p:nvSpPr>
          <p:cNvPr id="150" name="Google Shape;150;p3"/>
          <p:cNvSpPr txBox="1"/>
          <p:nvPr/>
        </p:nvSpPr>
        <p:spPr>
          <a:xfrm>
            <a:off x="3545673" y="6874859"/>
            <a:ext cx="12047100" cy="1422000"/>
          </a:xfrm>
          <a:prstGeom prst="rect">
            <a:avLst/>
          </a:prstGeom>
          <a:noFill/>
          <a:ln>
            <a:noFill/>
          </a:ln>
        </p:spPr>
        <p:txBody>
          <a:bodyPr anchorCtr="0" anchor="t" bIns="0" lIns="0" spcFirstLastPara="1" rIns="0" wrap="square" tIns="0">
            <a:spAutoFit/>
          </a:bodyPr>
          <a:lstStyle/>
          <a:p>
            <a:pPr indent="-302260" lvl="1" marL="604519" marR="0" rtl="0" algn="l">
              <a:lnSpc>
                <a:spcPct val="230046"/>
              </a:lnSpc>
              <a:spcBef>
                <a:spcPts val="0"/>
              </a:spcBef>
              <a:spcAft>
                <a:spcPts val="0"/>
              </a:spcAft>
              <a:buClr>
                <a:srgbClr val="000000"/>
              </a:buClr>
              <a:buSzPts val="2799"/>
              <a:buFont typeface="Arial"/>
              <a:buChar char="•"/>
            </a:pPr>
            <a:r>
              <a:rPr b="1" i="0" lang="en-US" sz="2799" u="none" cap="none" strike="noStrike">
                <a:solidFill>
                  <a:srgbClr val="000000"/>
                </a:solidFill>
                <a:latin typeface="Cabin"/>
                <a:ea typeface="Cabin"/>
                <a:cs typeface="Cabin"/>
                <a:sym typeface="Cabin"/>
              </a:rPr>
              <a:t>INPUT:</a:t>
            </a:r>
            <a:r>
              <a:rPr b="0" i="0" lang="en-US" sz="2799" u="none" cap="none" strike="noStrike">
                <a:solidFill>
                  <a:srgbClr val="000000"/>
                </a:solidFill>
                <a:latin typeface="Cabin"/>
                <a:ea typeface="Cabin"/>
                <a:cs typeface="Cabin"/>
                <a:sym typeface="Cabin"/>
              </a:rPr>
              <a:t> ECG phase characteristics from the Cardiac Arrhythmia Database. </a:t>
            </a:r>
            <a:endParaRPr/>
          </a:p>
          <a:p>
            <a:pPr indent="-302260" lvl="1" marL="604519" marR="0" rtl="0" algn="l">
              <a:lnSpc>
                <a:spcPct val="230046"/>
              </a:lnSpc>
              <a:spcBef>
                <a:spcPts val="0"/>
              </a:spcBef>
              <a:spcAft>
                <a:spcPts val="0"/>
              </a:spcAft>
              <a:buClr>
                <a:srgbClr val="000000"/>
              </a:buClr>
              <a:buSzPts val="2799"/>
              <a:buFont typeface="Arial"/>
              <a:buChar char="•"/>
            </a:pPr>
            <a:r>
              <a:rPr b="1" i="0" lang="en-US" sz="2799" u="none" cap="none" strike="noStrike">
                <a:solidFill>
                  <a:srgbClr val="000000"/>
                </a:solidFill>
                <a:latin typeface="Cabin"/>
                <a:ea typeface="Cabin"/>
                <a:cs typeface="Cabin"/>
                <a:sym typeface="Cabin"/>
              </a:rPr>
              <a:t>OUTPUT</a:t>
            </a:r>
            <a:r>
              <a:rPr b="0" i="0" lang="en-US" sz="2799" u="none" cap="none" strike="noStrike">
                <a:solidFill>
                  <a:srgbClr val="000000"/>
                </a:solidFill>
                <a:latin typeface="Cabin"/>
                <a:ea typeface="Cabin"/>
                <a:cs typeface="Cabin"/>
                <a:sym typeface="Cabin"/>
              </a:rPr>
              <a:t>: Predicted arrhythmia types (13 labels).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158" name="Shape 158"/>
        <p:cNvGrpSpPr/>
        <p:nvPr/>
      </p:nvGrpSpPr>
      <p:grpSpPr>
        <a:xfrm>
          <a:off x="0" y="0"/>
          <a:ext cx="0" cy="0"/>
          <a:chOff x="0" y="0"/>
          <a:chExt cx="0" cy="0"/>
        </a:xfrm>
      </p:grpSpPr>
      <p:sp>
        <p:nvSpPr>
          <p:cNvPr id="159" name="Google Shape;159;p4"/>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160" name="Google Shape;160;p4"/>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161" name="Google Shape;161;p4"/>
          <p:cNvSpPr/>
          <p:nvPr/>
        </p:nvSpPr>
        <p:spPr>
          <a:xfrm>
            <a:off x="1735709" y="326686"/>
            <a:ext cx="14929397" cy="9633628"/>
          </a:xfrm>
          <a:custGeom>
            <a:rect b="b" l="l" r="r" t="t"/>
            <a:pathLst>
              <a:path extrusionOk="0" h="9633628" w="14929397">
                <a:moveTo>
                  <a:pt x="0" y="0"/>
                </a:moveTo>
                <a:lnTo>
                  <a:pt x="14929396" y="0"/>
                </a:lnTo>
                <a:lnTo>
                  <a:pt x="14929396" y="9633628"/>
                </a:lnTo>
                <a:lnTo>
                  <a:pt x="0" y="9633628"/>
                </a:lnTo>
                <a:lnTo>
                  <a:pt x="0" y="0"/>
                </a:lnTo>
                <a:close/>
              </a:path>
            </a:pathLst>
          </a:custGeom>
          <a:blipFill rotWithShape="1">
            <a:blip r:embed="rId5">
              <a:alphaModFix/>
            </a:blip>
            <a:stretch>
              <a:fillRect b="0" l="0" r="0" t="0"/>
            </a:stretch>
          </a:blipFill>
          <a:ln>
            <a:noFill/>
          </a:ln>
        </p:spPr>
      </p:sp>
      <p:sp>
        <p:nvSpPr>
          <p:cNvPr id="162" name="Google Shape;162;p4"/>
          <p:cNvSpPr txBox="1"/>
          <p:nvPr/>
        </p:nvSpPr>
        <p:spPr>
          <a:xfrm>
            <a:off x="4504013" y="439722"/>
            <a:ext cx="9279975" cy="8541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Cabin"/>
                <a:ea typeface="Cabin"/>
                <a:cs typeface="Cabin"/>
                <a:sym typeface="Cabin"/>
              </a:rPr>
              <a:t>II. RELATED WORD</a:t>
            </a:r>
            <a:endParaRPr/>
          </a:p>
        </p:txBody>
      </p:sp>
      <p:sp>
        <p:nvSpPr>
          <p:cNvPr id="163" name="Google Shape;163;p4"/>
          <p:cNvSpPr txBox="1"/>
          <p:nvPr/>
        </p:nvSpPr>
        <p:spPr>
          <a:xfrm>
            <a:off x="2234100" y="2226225"/>
            <a:ext cx="13994700" cy="6118800"/>
          </a:xfrm>
          <a:prstGeom prst="rect">
            <a:avLst/>
          </a:prstGeom>
          <a:noFill/>
          <a:ln>
            <a:noFill/>
          </a:ln>
        </p:spPr>
        <p:txBody>
          <a:bodyPr anchorCtr="0" anchor="t" bIns="0" lIns="0" spcFirstLastPara="1" rIns="0" wrap="square" tIns="0">
            <a:spAutoFit/>
          </a:bodyPr>
          <a:lstStyle/>
          <a:p>
            <a:pPr indent="0" lvl="0" marL="0" marR="0" rtl="0" algn="l">
              <a:lnSpc>
                <a:spcPct val="220042"/>
              </a:lnSpc>
              <a:spcBef>
                <a:spcPts val="0"/>
              </a:spcBef>
              <a:spcAft>
                <a:spcPts val="0"/>
              </a:spcAft>
              <a:buNone/>
            </a:pPr>
            <a:r>
              <a:rPr b="0" i="0" lang="en-US" sz="2799" u="none" cap="none" strike="noStrike">
                <a:solidFill>
                  <a:srgbClr val="000000"/>
                </a:solidFill>
                <a:latin typeface="Cabin"/>
                <a:ea typeface="Cabin"/>
                <a:cs typeface="Cabin"/>
                <a:sym typeface="Cabin"/>
              </a:rPr>
              <a:t>            Previous studies used individual models like CNN, SVM, LSTM,... for arrhythmia classi</a:t>
            </a:r>
            <a:r>
              <a:rPr lang="en-US" sz="2799">
                <a:latin typeface="Cabin"/>
                <a:ea typeface="Cabin"/>
                <a:cs typeface="Cabin"/>
                <a:sym typeface="Cabin"/>
              </a:rPr>
              <a:t>- </a:t>
            </a:r>
            <a:r>
              <a:rPr b="0" i="0" lang="en-US" sz="2799" u="none" cap="none" strike="noStrike">
                <a:solidFill>
                  <a:srgbClr val="000000"/>
                </a:solidFill>
                <a:latin typeface="Cabin"/>
                <a:ea typeface="Cabin"/>
                <a:cs typeface="Cabin"/>
                <a:sym typeface="Cabin"/>
              </a:rPr>
              <a:t>fication. While these models have strengths, they may not fully exploit the potential of multiple machine learning techniques for complex datasets.</a:t>
            </a:r>
            <a:endParaRPr/>
          </a:p>
          <a:p>
            <a:pPr indent="0" lvl="0" marL="0" marR="0" rtl="0" algn="l">
              <a:lnSpc>
                <a:spcPct val="220042"/>
              </a:lnSpc>
              <a:spcBef>
                <a:spcPts val="0"/>
              </a:spcBef>
              <a:spcAft>
                <a:spcPts val="0"/>
              </a:spcAft>
              <a:buNone/>
            </a:pPr>
            <a:r>
              <a:rPr b="0" i="0" lang="en-US" sz="2799" u="none" cap="none" strike="noStrike">
                <a:solidFill>
                  <a:srgbClr val="000000"/>
                </a:solidFill>
                <a:latin typeface="Cabin"/>
                <a:ea typeface="Cabin"/>
                <a:cs typeface="Cabin"/>
                <a:sym typeface="Cabin"/>
              </a:rPr>
              <a:t>             Ensemble methods, such as GA-Stacking, combine model strengths, improving accuracy and generalization. Research like "Improved Stacked Ensemble with Genetic Algor- ithm for Automatic ECG Diagnosis" (2023) shows GA-Stacking's effectiveness, with high performance in ECG abnormality detection.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171" name="Shape 171"/>
        <p:cNvGrpSpPr/>
        <p:nvPr/>
      </p:nvGrpSpPr>
      <p:grpSpPr>
        <a:xfrm>
          <a:off x="0" y="0"/>
          <a:ext cx="0" cy="0"/>
          <a:chOff x="0" y="0"/>
          <a:chExt cx="0" cy="0"/>
        </a:xfrm>
      </p:grpSpPr>
      <p:sp>
        <p:nvSpPr>
          <p:cNvPr id="172" name="Google Shape;172;p5"/>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173" name="Google Shape;173;p5"/>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174" name="Google Shape;174;p5"/>
          <p:cNvSpPr/>
          <p:nvPr/>
        </p:nvSpPr>
        <p:spPr>
          <a:xfrm>
            <a:off x="2117299" y="603170"/>
            <a:ext cx="14248441" cy="9194222"/>
          </a:xfrm>
          <a:custGeom>
            <a:rect b="b" l="l" r="r" t="t"/>
            <a:pathLst>
              <a:path extrusionOk="0" h="9194222" w="14248441">
                <a:moveTo>
                  <a:pt x="0" y="0"/>
                </a:moveTo>
                <a:lnTo>
                  <a:pt x="14248441" y="0"/>
                </a:lnTo>
                <a:lnTo>
                  <a:pt x="14248441" y="9194222"/>
                </a:lnTo>
                <a:lnTo>
                  <a:pt x="0" y="9194222"/>
                </a:lnTo>
                <a:lnTo>
                  <a:pt x="0" y="0"/>
                </a:lnTo>
                <a:close/>
              </a:path>
            </a:pathLst>
          </a:custGeom>
          <a:blipFill rotWithShape="1">
            <a:blip r:embed="rId5">
              <a:alphaModFix/>
            </a:blip>
            <a:stretch>
              <a:fillRect b="0" l="0" r="0" t="0"/>
            </a:stretch>
          </a:blipFill>
          <a:ln>
            <a:noFill/>
          </a:ln>
        </p:spPr>
      </p:sp>
      <p:sp>
        <p:nvSpPr>
          <p:cNvPr id="175" name="Google Shape;175;p5"/>
          <p:cNvSpPr txBox="1"/>
          <p:nvPr/>
        </p:nvSpPr>
        <p:spPr>
          <a:xfrm>
            <a:off x="5377787" y="933450"/>
            <a:ext cx="7532427" cy="8541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Cabin"/>
                <a:ea typeface="Cabin"/>
                <a:cs typeface="Cabin"/>
                <a:sym typeface="Cabin"/>
              </a:rPr>
              <a:t>III. DATABASE</a:t>
            </a:r>
            <a:endParaRPr/>
          </a:p>
        </p:txBody>
      </p:sp>
      <p:sp>
        <p:nvSpPr>
          <p:cNvPr id="176" name="Google Shape;176;p5"/>
          <p:cNvSpPr txBox="1"/>
          <p:nvPr/>
        </p:nvSpPr>
        <p:spPr>
          <a:xfrm>
            <a:off x="3630239" y="1997175"/>
            <a:ext cx="5873262" cy="686192"/>
          </a:xfrm>
          <a:prstGeom prst="rect">
            <a:avLst/>
          </a:prstGeom>
          <a:noFill/>
          <a:ln>
            <a:noFill/>
          </a:ln>
        </p:spPr>
        <p:txBody>
          <a:bodyPr anchorCtr="0" anchor="t" bIns="0" lIns="0" spcFirstLastPara="1" rIns="0" wrap="square" tIns="0">
            <a:spAutoFit/>
          </a:bodyPr>
          <a:lstStyle/>
          <a:p>
            <a:pPr indent="0" lvl="0" marL="0" marR="0" rtl="0" algn="ctr">
              <a:lnSpc>
                <a:spcPct val="219042"/>
              </a:lnSpc>
              <a:spcBef>
                <a:spcPts val="0"/>
              </a:spcBef>
              <a:spcAft>
                <a:spcPts val="0"/>
              </a:spcAft>
              <a:buNone/>
            </a:pPr>
            <a:r>
              <a:rPr b="1" i="0" lang="en-US" sz="2799" u="none" cap="none" strike="noStrike">
                <a:solidFill>
                  <a:srgbClr val="000000"/>
                </a:solidFill>
                <a:latin typeface="Cabin"/>
                <a:ea typeface="Cabin"/>
                <a:cs typeface="Cabin"/>
                <a:sym typeface="Cabin"/>
              </a:rPr>
              <a:t> CARDIAC ARRHYTHMIA DATABASE</a:t>
            </a:r>
            <a:endParaRPr/>
          </a:p>
        </p:txBody>
      </p:sp>
      <p:sp>
        <p:nvSpPr>
          <p:cNvPr id="177" name="Google Shape;177;p5"/>
          <p:cNvSpPr txBox="1"/>
          <p:nvPr/>
        </p:nvSpPr>
        <p:spPr>
          <a:xfrm>
            <a:off x="3100850" y="2921925"/>
            <a:ext cx="12145800" cy="5162100"/>
          </a:xfrm>
          <a:prstGeom prst="rect">
            <a:avLst/>
          </a:prstGeom>
          <a:noFill/>
          <a:ln>
            <a:noFill/>
          </a:ln>
        </p:spPr>
        <p:txBody>
          <a:bodyPr anchorCtr="0" anchor="t" bIns="0" lIns="0" spcFirstLastPara="1" rIns="0" wrap="square" tIns="0">
            <a:spAutoFit/>
          </a:bodyPr>
          <a:lstStyle/>
          <a:p>
            <a:pPr indent="0" lvl="0" marL="0" marR="0" rtl="0" algn="l">
              <a:lnSpc>
                <a:spcPct val="183029"/>
              </a:lnSpc>
              <a:spcBef>
                <a:spcPts val="0"/>
              </a:spcBef>
              <a:spcAft>
                <a:spcPts val="0"/>
              </a:spcAft>
              <a:buNone/>
            </a:pPr>
            <a:r>
              <a:rPr b="0" i="0" lang="en-US" sz="2799" u="none" cap="none" strike="noStrike">
                <a:solidFill>
                  <a:srgbClr val="000000"/>
                </a:solidFill>
                <a:latin typeface="Cabin"/>
                <a:ea typeface="Cabin"/>
                <a:cs typeface="Cabin"/>
                <a:sym typeface="Cabin"/>
              </a:rPr>
              <a:t>        We utilized the Cardiac Arrhythmia Database, originally introduced in the paper “A Supervised Machine Learning Algorithm for Arrhythmia Analysis” (1997). </a:t>
            </a:r>
            <a:endParaRPr/>
          </a:p>
          <a:p>
            <a:pPr indent="0" lvl="0" marL="0" marR="0" rtl="0" algn="l">
              <a:lnSpc>
                <a:spcPct val="183029"/>
              </a:lnSpc>
              <a:spcBef>
                <a:spcPts val="0"/>
              </a:spcBef>
              <a:spcAft>
                <a:spcPts val="0"/>
              </a:spcAft>
              <a:buNone/>
            </a:pPr>
            <a:r>
              <a:rPr b="0" i="0" lang="en-US" sz="2799" u="none" cap="none" strike="noStrike">
                <a:solidFill>
                  <a:srgbClr val="000000"/>
                </a:solidFill>
                <a:latin typeface="Cabin"/>
                <a:ea typeface="Cabin"/>
                <a:cs typeface="Cabin"/>
                <a:sym typeface="Cabin"/>
              </a:rPr>
              <a:t>        The dataset aims to identify, recognize, and classify various arrhythmia types. It contains 452 patient records with 279 features, including patient attributes such as age, gender, height, weight, heart rate, and ECG parameters like Q, R, S waves across channels DI, DII, DIII, and others. Approximately 0.33% of the feature values are missing.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185" name="Shape 185"/>
        <p:cNvGrpSpPr/>
        <p:nvPr/>
      </p:nvGrpSpPr>
      <p:grpSpPr>
        <a:xfrm>
          <a:off x="0" y="0"/>
          <a:ext cx="0" cy="0"/>
          <a:chOff x="0" y="0"/>
          <a:chExt cx="0" cy="0"/>
        </a:xfrm>
      </p:grpSpPr>
      <p:sp>
        <p:nvSpPr>
          <p:cNvPr id="186" name="Google Shape;186;p6"/>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187" name="Google Shape;187;p6"/>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188" name="Google Shape;188;p6"/>
          <p:cNvSpPr/>
          <p:nvPr/>
        </p:nvSpPr>
        <p:spPr>
          <a:xfrm>
            <a:off x="1894861" y="396399"/>
            <a:ext cx="14713327" cy="9494202"/>
          </a:xfrm>
          <a:custGeom>
            <a:rect b="b" l="l" r="r" t="t"/>
            <a:pathLst>
              <a:path extrusionOk="0" h="9494202" w="14713327">
                <a:moveTo>
                  <a:pt x="0" y="0"/>
                </a:moveTo>
                <a:lnTo>
                  <a:pt x="14713327" y="0"/>
                </a:lnTo>
                <a:lnTo>
                  <a:pt x="14713327" y="9494202"/>
                </a:lnTo>
                <a:lnTo>
                  <a:pt x="0" y="9494202"/>
                </a:lnTo>
                <a:lnTo>
                  <a:pt x="0" y="0"/>
                </a:lnTo>
                <a:close/>
              </a:path>
            </a:pathLst>
          </a:custGeom>
          <a:blipFill rotWithShape="1">
            <a:blip r:embed="rId5">
              <a:alphaModFix/>
            </a:blip>
            <a:stretch>
              <a:fillRect b="0" l="0" r="0" t="0"/>
            </a:stretch>
          </a:blipFill>
          <a:ln>
            <a:noFill/>
          </a:ln>
        </p:spPr>
      </p:sp>
      <p:sp>
        <p:nvSpPr>
          <p:cNvPr id="189" name="Google Shape;189;p6"/>
          <p:cNvSpPr txBox="1"/>
          <p:nvPr/>
        </p:nvSpPr>
        <p:spPr>
          <a:xfrm>
            <a:off x="5377787" y="933450"/>
            <a:ext cx="7532427" cy="8541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Cabin"/>
                <a:ea typeface="Cabin"/>
                <a:cs typeface="Cabin"/>
                <a:sym typeface="Cabin"/>
              </a:rPr>
              <a:t>III. DATABASE</a:t>
            </a:r>
            <a:endParaRPr/>
          </a:p>
        </p:txBody>
      </p:sp>
      <p:sp>
        <p:nvSpPr>
          <p:cNvPr id="190" name="Google Shape;190;p6"/>
          <p:cNvSpPr txBox="1"/>
          <p:nvPr/>
        </p:nvSpPr>
        <p:spPr>
          <a:xfrm>
            <a:off x="3760473" y="1937060"/>
            <a:ext cx="3947034" cy="686192"/>
          </a:xfrm>
          <a:prstGeom prst="rect">
            <a:avLst/>
          </a:prstGeom>
          <a:noFill/>
          <a:ln>
            <a:noFill/>
          </a:ln>
        </p:spPr>
        <p:txBody>
          <a:bodyPr anchorCtr="0" anchor="t" bIns="0" lIns="0" spcFirstLastPara="1" rIns="0" wrap="square" tIns="0">
            <a:spAutoFit/>
          </a:bodyPr>
          <a:lstStyle/>
          <a:p>
            <a:pPr indent="0" lvl="0" marL="0" marR="0" rtl="0" algn="l">
              <a:lnSpc>
                <a:spcPct val="219042"/>
              </a:lnSpc>
              <a:spcBef>
                <a:spcPts val="0"/>
              </a:spcBef>
              <a:spcAft>
                <a:spcPts val="0"/>
              </a:spcAft>
              <a:buNone/>
            </a:pPr>
            <a:r>
              <a:rPr b="1" i="0" lang="en-US" sz="2799" u="none" cap="none" strike="noStrike">
                <a:solidFill>
                  <a:srgbClr val="000000"/>
                </a:solidFill>
                <a:latin typeface="Cabin"/>
                <a:ea typeface="Cabin"/>
                <a:cs typeface="Cabin"/>
                <a:sym typeface="Cabin"/>
              </a:rPr>
              <a:t>CLEANING DATA</a:t>
            </a:r>
            <a:endParaRPr/>
          </a:p>
        </p:txBody>
      </p:sp>
      <p:sp>
        <p:nvSpPr>
          <p:cNvPr id="191" name="Google Shape;191;p6"/>
          <p:cNvSpPr txBox="1"/>
          <p:nvPr/>
        </p:nvSpPr>
        <p:spPr>
          <a:xfrm>
            <a:off x="3161239" y="2870902"/>
            <a:ext cx="12636000" cy="5950800"/>
          </a:xfrm>
          <a:prstGeom prst="rect">
            <a:avLst/>
          </a:prstGeom>
          <a:noFill/>
          <a:ln>
            <a:noFill/>
          </a:ln>
        </p:spPr>
        <p:txBody>
          <a:bodyPr anchorCtr="0" anchor="t" bIns="0" lIns="0" spcFirstLastPara="1" rIns="0" wrap="square" tIns="0">
            <a:spAutoFit/>
          </a:bodyPr>
          <a:lstStyle/>
          <a:p>
            <a:pPr indent="0" lvl="0" marL="0" marR="0" rtl="0" algn="l">
              <a:lnSpc>
                <a:spcPct val="183029"/>
              </a:lnSpc>
              <a:spcBef>
                <a:spcPts val="0"/>
              </a:spcBef>
              <a:spcAft>
                <a:spcPts val="0"/>
              </a:spcAft>
              <a:buNone/>
            </a:pPr>
            <a:r>
              <a:rPr b="0" i="0" lang="en-US" sz="2799" u="none" cap="none" strike="noStrike">
                <a:solidFill>
                  <a:srgbClr val="000000"/>
                </a:solidFill>
                <a:latin typeface="Cabin"/>
                <a:ea typeface="Cabin"/>
                <a:cs typeface="Cabin"/>
                <a:sym typeface="Cabin"/>
              </a:rPr>
              <a:t>        After the preprocessing steps, the dataset retains 452 rows and 279 features. The target variable "diagnosis" was reduced from 16 to 13 </a:t>
            </a:r>
            <a:r>
              <a:rPr lang="en-US" sz="2799">
                <a:latin typeface="Cabin"/>
                <a:ea typeface="Cabin"/>
                <a:cs typeface="Cabin"/>
                <a:sym typeface="Cabin"/>
              </a:rPr>
              <a:t>labels</a:t>
            </a:r>
            <a:r>
              <a:rPr b="0" i="0" lang="en-US" sz="2799" u="none" cap="none" strike="noStrike">
                <a:solidFill>
                  <a:srgbClr val="000000"/>
                </a:solidFill>
                <a:latin typeface="Cabin"/>
                <a:ea typeface="Cabin"/>
                <a:cs typeface="Cabin"/>
                <a:sym typeface="Cabin"/>
              </a:rPr>
              <a:t>:</a:t>
            </a:r>
            <a:endParaRPr/>
          </a:p>
          <a:p>
            <a:pPr indent="-302260" lvl="1" marL="604519" marR="0" rtl="0" algn="l">
              <a:lnSpc>
                <a:spcPct val="183029"/>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‘0’: Indicates normal ECG</a:t>
            </a:r>
            <a:endParaRPr/>
          </a:p>
          <a:p>
            <a:pPr indent="-302260" lvl="1" marL="604519" marR="0" rtl="0" algn="l">
              <a:lnSpc>
                <a:spcPct val="183029"/>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‘1’: Changes due to coronary artery disease</a:t>
            </a:r>
            <a:endParaRPr/>
          </a:p>
          <a:p>
            <a:pPr indent="-302260" lvl="1" marL="604519" marR="0" rtl="0" algn="l">
              <a:lnSpc>
                <a:spcPct val="183029"/>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‘2’: Old anterior myocardial infarction</a:t>
            </a:r>
            <a:endParaRPr/>
          </a:p>
          <a:p>
            <a:pPr indent="-302260" lvl="1" marL="604519" marR="0" rtl="0" algn="l">
              <a:lnSpc>
                <a:spcPct val="183029"/>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‘3’: Old inferior myocardial infarction</a:t>
            </a:r>
            <a:endParaRPr/>
          </a:p>
          <a:p>
            <a:pPr indent="-302260" lvl="1" marL="604519" marR="0" rtl="0" algn="l">
              <a:lnSpc>
                <a:spcPct val="183029"/>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‘4’: Sinus tachycardia</a:t>
            </a:r>
            <a:endParaRPr/>
          </a:p>
          <a:p>
            <a:pPr indent="0" lvl="0" marL="0" marR="0" rtl="0" algn="l">
              <a:lnSpc>
                <a:spcPct val="183029"/>
              </a:lnSpc>
              <a:spcBef>
                <a:spcPts val="0"/>
              </a:spcBef>
              <a:spcAft>
                <a:spcPts val="0"/>
              </a:spcAft>
              <a:buNone/>
            </a:pPr>
            <a:r>
              <a:t/>
            </a:r>
            <a:endParaRPr b="0" i="0" sz="2799" u="none" cap="none" strike="noStrike">
              <a:solidFill>
                <a:srgbClr val="000000"/>
              </a:solidFill>
              <a:latin typeface="Cabin"/>
              <a:ea typeface="Cabin"/>
              <a:cs typeface="Cabin"/>
              <a:sym typeface="Cabi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195" name="Shape 195"/>
        <p:cNvGrpSpPr/>
        <p:nvPr/>
      </p:nvGrpSpPr>
      <p:grpSpPr>
        <a:xfrm>
          <a:off x="0" y="0"/>
          <a:ext cx="0" cy="0"/>
          <a:chOff x="0" y="0"/>
          <a:chExt cx="0" cy="0"/>
        </a:xfrm>
      </p:grpSpPr>
      <p:sp>
        <p:nvSpPr>
          <p:cNvPr id="196" name="Google Shape;196;p7"/>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197" name="Google Shape;197;p7"/>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198" name="Google Shape;198;p7"/>
          <p:cNvSpPr/>
          <p:nvPr/>
        </p:nvSpPr>
        <p:spPr>
          <a:xfrm>
            <a:off x="1894861" y="396399"/>
            <a:ext cx="14713327" cy="9494202"/>
          </a:xfrm>
          <a:custGeom>
            <a:rect b="b" l="l" r="r" t="t"/>
            <a:pathLst>
              <a:path extrusionOk="0" h="9494202" w="14713327">
                <a:moveTo>
                  <a:pt x="0" y="0"/>
                </a:moveTo>
                <a:lnTo>
                  <a:pt x="14713327" y="0"/>
                </a:lnTo>
                <a:lnTo>
                  <a:pt x="14713327" y="9494202"/>
                </a:lnTo>
                <a:lnTo>
                  <a:pt x="0" y="9494202"/>
                </a:lnTo>
                <a:lnTo>
                  <a:pt x="0" y="0"/>
                </a:lnTo>
                <a:close/>
              </a:path>
            </a:pathLst>
          </a:custGeom>
          <a:blipFill rotWithShape="1">
            <a:blip r:embed="rId5">
              <a:alphaModFix/>
            </a:blip>
            <a:stretch>
              <a:fillRect b="0" l="0" r="0" t="0"/>
            </a:stretch>
          </a:blipFill>
          <a:ln>
            <a:noFill/>
          </a:ln>
        </p:spPr>
      </p:sp>
      <p:sp>
        <p:nvSpPr>
          <p:cNvPr id="199" name="Google Shape;199;p7"/>
          <p:cNvSpPr txBox="1"/>
          <p:nvPr/>
        </p:nvSpPr>
        <p:spPr>
          <a:xfrm>
            <a:off x="5377787" y="933450"/>
            <a:ext cx="7532427" cy="8541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000000"/>
                </a:solidFill>
                <a:latin typeface="Cabin"/>
                <a:ea typeface="Cabin"/>
                <a:cs typeface="Cabin"/>
                <a:sym typeface="Cabin"/>
              </a:rPr>
              <a:t>III. DATABASE</a:t>
            </a:r>
            <a:endParaRPr/>
          </a:p>
        </p:txBody>
      </p:sp>
      <p:sp>
        <p:nvSpPr>
          <p:cNvPr id="200" name="Google Shape;200;p7"/>
          <p:cNvSpPr txBox="1"/>
          <p:nvPr/>
        </p:nvSpPr>
        <p:spPr>
          <a:xfrm>
            <a:off x="3933011" y="3208195"/>
            <a:ext cx="9752866" cy="4443762"/>
          </a:xfrm>
          <a:prstGeom prst="rect">
            <a:avLst/>
          </a:prstGeom>
          <a:noFill/>
          <a:ln>
            <a:noFill/>
          </a:ln>
        </p:spPr>
        <p:txBody>
          <a:bodyPr anchorCtr="0" anchor="t" bIns="0" lIns="0" spcFirstLastPara="1" rIns="0" wrap="square" tIns="0">
            <a:spAutoFit/>
          </a:bodyPr>
          <a:lstStyle/>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‘5’: Sinus bradycardia</a:t>
            </a:r>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‘6’: Ventricular premature contractions</a:t>
            </a:r>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‘7’: Atrial premature contractions</a:t>
            </a:r>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‘8’: Left bundle branch block</a:t>
            </a:r>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‘9’: Right bundle branch block</a:t>
            </a:r>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‘10’: Left ventricular hypertrophy</a:t>
            </a:r>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‘11’: Atrial fibrillation or flutter</a:t>
            </a:r>
            <a:endParaRPr/>
          </a:p>
          <a:p>
            <a:pPr indent="-302260" lvl="1" marL="604519" marR="0" rtl="0" algn="l">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Cabin"/>
                <a:ea typeface="Cabin"/>
                <a:cs typeface="Cabin"/>
                <a:sym typeface="Cabin"/>
              </a:rPr>
              <a:t>‘12’: Other cases</a:t>
            </a:r>
            <a:endParaRPr/>
          </a:p>
          <a:p>
            <a:pPr indent="0" lvl="0" marL="0" marR="0" rtl="0" algn="l">
              <a:lnSpc>
                <a:spcPct val="140014"/>
              </a:lnSpc>
              <a:spcBef>
                <a:spcPts val="0"/>
              </a:spcBef>
              <a:spcAft>
                <a:spcPts val="0"/>
              </a:spcAft>
              <a:buNone/>
            </a:pPr>
            <a:r>
              <a:t/>
            </a:r>
            <a:endParaRPr b="0" i="0" sz="2799" u="none" cap="none" strike="noStrike">
              <a:solidFill>
                <a:srgbClr val="000000"/>
              </a:solidFill>
              <a:latin typeface="Cabin"/>
              <a:ea typeface="Cabin"/>
              <a:cs typeface="Cabin"/>
              <a:sym typeface="Cab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04" name="Shape 204"/>
        <p:cNvGrpSpPr/>
        <p:nvPr/>
      </p:nvGrpSpPr>
      <p:grpSpPr>
        <a:xfrm>
          <a:off x="0" y="0"/>
          <a:ext cx="0" cy="0"/>
          <a:chOff x="0" y="0"/>
          <a:chExt cx="0" cy="0"/>
        </a:xfrm>
      </p:grpSpPr>
      <p:sp>
        <p:nvSpPr>
          <p:cNvPr id="205" name="Google Shape;205;p8"/>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206" name="Google Shape;206;p8"/>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207" name="Google Shape;207;p8"/>
          <p:cNvSpPr/>
          <p:nvPr/>
        </p:nvSpPr>
        <p:spPr>
          <a:xfrm>
            <a:off x="2413502" y="800450"/>
            <a:ext cx="13606468" cy="8779969"/>
          </a:xfrm>
          <a:custGeom>
            <a:rect b="b" l="l" r="r" t="t"/>
            <a:pathLst>
              <a:path extrusionOk="0" h="8779969" w="13606468">
                <a:moveTo>
                  <a:pt x="0" y="0"/>
                </a:moveTo>
                <a:lnTo>
                  <a:pt x="13606468" y="0"/>
                </a:lnTo>
                <a:lnTo>
                  <a:pt x="13606468" y="8779970"/>
                </a:lnTo>
                <a:lnTo>
                  <a:pt x="0" y="8779970"/>
                </a:lnTo>
                <a:lnTo>
                  <a:pt x="0" y="0"/>
                </a:lnTo>
                <a:close/>
              </a:path>
            </a:pathLst>
          </a:custGeom>
          <a:blipFill rotWithShape="1">
            <a:blip r:embed="rId5">
              <a:alphaModFix/>
            </a:blip>
            <a:stretch>
              <a:fillRect b="0" l="0" r="0" t="0"/>
            </a:stretch>
          </a:blipFill>
          <a:ln>
            <a:noFill/>
          </a:ln>
        </p:spPr>
      </p:sp>
      <p:sp>
        <p:nvSpPr>
          <p:cNvPr id="208" name="Google Shape;208;p8"/>
          <p:cNvSpPr/>
          <p:nvPr/>
        </p:nvSpPr>
        <p:spPr>
          <a:xfrm>
            <a:off x="3590106" y="2864019"/>
            <a:ext cx="11067655" cy="5837884"/>
          </a:xfrm>
          <a:custGeom>
            <a:rect b="b" l="l" r="r" t="t"/>
            <a:pathLst>
              <a:path extrusionOk="0" h="5837884" w="11067655">
                <a:moveTo>
                  <a:pt x="0" y="0"/>
                </a:moveTo>
                <a:lnTo>
                  <a:pt x="11067655" y="0"/>
                </a:lnTo>
                <a:lnTo>
                  <a:pt x="11067655" y="5837884"/>
                </a:lnTo>
                <a:lnTo>
                  <a:pt x="0" y="5837884"/>
                </a:lnTo>
                <a:lnTo>
                  <a:pt x="0" y="0"/>
                </a:lnTo>
                <a:close/>
              </a:path>
            </a:pathLst>
          </a:custGeom>
          <a:blipFill rotWithShape="1">
            <a:blip r:embed="rId6">
              <a:alphaModFix/>
            </a:blip>
            <a:stretch>
              <a:fillRect b="0" l="0" r="0" t="0"/>
            </a:stretch>
          </a:blipFill>
          <a:ln>
            <a:noFill/>
          </a:ln>
        </p:spPr>
      </p:sp>
      <p:sp>
        <p:nvSpPr>
          <p:cNvPr id="209" name="Google Shape;209;p8"/>
          <p:cNvSpPr txBox="1"/>
          <p:nvPr/>
        </p:nvSpPr>
        <p:spPr>
          <a:xfrm>
            <a:off x="4015578" y="942975"/>
            <a:ext cx="10642184" cy="844582"/>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000000"/>
                </a:solidFill>
                <a:latin typeface="Cabin"/>
                <a:ea typeface="Cabin"/>
                <a:cs typeface="Cabin"/>
                <a:sym typeface="Cabin"/>
              </a:rPr>
              <a:t>IV. IMPLEMENTATION METHOD</a:t>
            </a:r>
            <a:endParaRPr/>
          </a:p>
        </p:txBody>
      </p:sp>
      <p:sp>
        <p:nvSpPr>
          <p:cNvPr id="210" name="Google Shape;210;p8"/>
          <p:cNvSpPr txBox="1"/>
          <p:nvPr/>
        </p:nvSpPr>
        <p:spPr>
          <a:xfrm>
            <a:off x="2413502" y="2038477"/>
            <a:ext cx="5224139" cy="679492"/>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000000"/>
                </a:solidFill>
                <a:latin typeface="Cabin"/>
                <a:ea typeface="Cabin"/>
                <a:cs typeface="Cabin"/>
                <a:sym typeface="Cabin"/>
              </a:rPr>
              <a:t>PROCEDURE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18" name="Shape 218"/>
        <p:cNvGrpSpPr/>
        <p:nvPr/>
      </p:nvGrpSpPr>
      <p:grpSpPr>
        <a:xfrm>
          <a:off x="0" y="0"/>
          <a:ext cx="0" cy="0"/>
          <a:chOff x="0" y="0"/>
          <a:chExt cx="0" cy="0"/>
        </a:xfrm>
      </p:grpSpPr>
      <p:sp>
        <p:nvSpPr>
          <p:cNvPr id="219" name="Google Shape;219;p9"/>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220" name="Google Shape;220;p9"/>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221" name="Google Shape;221;p9"/>
          <p:cNvSpPr/>
          <p:nvPr/>
        </p:nvSpPr>
        <p:spPr>
          <a:xfrm>
            <a:off x="2413502" y="800450"/>
            <a:ext cx="13606468" cy="8779969"/>
          </a:xfrm>
          <a:custGeom>
            <a:rect b="b" l="l" r="r" t="t"/>
            <a:pathLst>
              <a:path extrusionOk="0" h="8779969" w="13606468">
                <a:moveTo>
                  <a:pt x="0" y="0"/>
                </a:moveTo>
                <a:lnTo>
                  <a:pt x="13606468" y="0"/>
                </a:lnTo>
                <a:lnTo>
                  <a:pt x="13606468" y="8779970"/>
                </a:lnTo>
                <a:lnTo>
                  <a:pt x="0" y="8779970"/>
                </a:lnTo>
                <a:lnTo>
                  <a:pt x="0" y="0"/>
                </a:lnTo>
                <a:close/>
              </a:path>
            </a:pathLst>
          </a:custGeom>
          <a:blipFill rotWithShape="1">
            <a:blip r:embed="rId5">
              <a:alphaModFix/>
            </a:blip>
            <a:stretch>
              <a:fillRect b="0" l="0" r="0" t="0"/>
            </a:stretch>
          </a:blipFill>
          <a:ln>
            <a:noFill/>
          </a:ln>
        </p:spPr>
      </p:sp>
      <p:sp>
        <p:nvSpPr>
          <p:cNvPr id="222" name="Google Shape;222;p9"/>
          <p:cNvSpPr txBox="1"/>
          <p:nvPr/>
        </p:nvSpPr>
        <p:spPr>
          <a:xfrm>
            <a:off x="4015578" y="942975"/>
            <a:ext cx="10642184" cy="844582"/>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none" cap="none" strike="noStrike">
                <a:solidFill>
                  <a:srgbClr val="000000"/>
                </a:solidFill>
                <a:latin typeface="Cabin"/>
                <a:ea typeface="Cabin"/>
                <a:cs typeface="Cabin"/>
                <a:sym typeface="Cabin"/>
              </a:rPr>
              <a:t>IV. IMPLEMENTATION METHOD</a:t>
            </a:r>
            <a:endParaRPr/>
          </a:p>
        </p:txBody>
      </p:sp>
      <p:sp>
        <p:nvSpPr>
          <p:cNvPr id="223" name="Google Shape;223;p9"/>
          <p:cNvSpPr txBox="1"/>
          <p:nvPr/>
        </p:nvSpPr>
        <p:spPr>
          <a:xfrm>
            <a:off x="2741324" y="2528409"/>
            <a:ext cx="5224139" cy="679492"/>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000000"/>
                </a:solidFill>
                <a:latin typeface="Cabin"/>
                <a:ea typeface="Cabin"/>
                <a:cs typeface="Cabin"/>
                <a:sym typeface="Cabin"/>
              </a:rPr>
              <a:t>GA STACKING</a:t>
            </a:r>
            <a:endParaRPr/>
          </a:p>
        </p:txBody>
      </p:sp>
      <p:sp>
        <p:nvSpPr>
          <p:cNvPr id="224" name="Google Shape;224;p9"/>
          <p:cNvSpPr txBox="1"/>
          <p:nvPr/>
        </p:nvSpPr>
        <p:spPr>
          <a:xfrm>
            <a:off x="3827717" y="3703499"/>
            <a:ext cx="10830000" cy="405030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799" u="none" cap="none" strike="noStrike">
                <a:solidFill>
                  <a:srgbClr val="000000"/>
                </a:solidFill>
                <a:latin typeface="Cabin"/>
                <a:ea typeface="Cabin"/>
                <a:cs typeface="Cabin"/>
                <a:sym typeface="Cabin"/>
              </a:rPr>
              <a:t>        We used GA Stacking to optimize the combination of base models. For the second layer, we employed KNN as a meta-classifier to aggregate the predictions from the base models, providing the final classification results. </a:t>
            </a:r>
            <a:endParaRPr/>
          </a:p>
          <a:p>
            <a:pPr indent="0" lvl="0" marL="0" marR="0" rtl="0" algn="l">
              <a:lnSpc>
                <a:spcPct val="140014"/>
              </a:lnSpc>
              <a:spcBef>
                <a:spcPts val="0"/>
              </a:spcBef>
              <a:spcAft>
                <a:spcPts val="0"/>
              </a:spcAft>
              <a:buNone/>
            </a:pPr>
            <a:r>
              <a:rPr b="0" i="0" lang="en-US" sz="2799" u="none" cap="none" strike="noStrike">
                <a:solidFill>
                  <a:srgbClr val="000000"/>
                </a:solidFill>
                <a:latin typeface="Cabin"/>
                <a:ea typeface="Cabin"/>
                <a:cs typeface="Cabin"/>
                <a:sym typeface="Cabin"/>
              </a:rPr>
              <a:t>         This ensemble approach effectively addresses the multi-label nature of the task, improving model performance while avoiding overfitting.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28" name="Shape 228"/>
        <p:cNvGrpSpPr/>
        <p:nvPr/>
      </p:nvGrpSpPr>
      <p:grpSpPr>
        <a:xfrm>
          <a:off x="0" y="0"/>
          <a:ext cx="0" cy="0"/>
          <a:chOff x="0" y="0"/>
          <a:chExt cx="0" cy="0"/>
        </a:xfrm>
      </p:grpSpPr>
      <p:sp>
        <p:nvSpPr>
          <p:cNvPr id="229" name="Google Shape;229;p10"/>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230" name="Google Shape;230;p10"/>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graphicFrame>
        <p:nvGraphicFramePr>
          <p:cNvPr id="231" name="Google Shape;231;p10"/>
          <p:cNvGraphicFramePr/>
          <p:nvPr/>
        </p:nvGraphicFramePr>
        <p:xfrm>
          <a:off x="1539522" y="1322456"/>
          <a:ext cx="3000000" cy="3000000"/>
        </p:xfrm>
        <a:graphic>
          <a:graphicData uri="http://schemas.openxmlformats.org/drawingml/2006/table">
            <a:tbl>
              <a:tblPr>
                <a:noFill/>
                <a:tableStyleId>{5F720CB9-E96E-4544-BF5B-146836890901}</a:tableStyleId>
              </a:tblPr>
              <a:tblGrid>
                <a:gridCol w="15284500"/>
              </a:tblGrid>
              <a:tr h="8653000">
                <a:tc>
                  <a:txBody>
                    <a:bodyPr/>
                    <a:lstStyle/>
                    <a:p>
                      <a:pPr indent="0" lvl="0" marL="0" marR="0" rtl="0" algn="ctr">
                        <a:lnSpc>
                          <a:spcPct val="229090"/>
                        </a:lnSpc>
                        <a:spcBef>
                          <a:spcPts val="0"/>
                        </a:spcBef>
                        <a:spcAft>
                          <a:spcPts val="0"/>
                        </a:spcAft>
                        <a:buNone/>
                      </a:pPr>
                      <a:r>
                        <a:t/>
                      </a:r>
                      <a:endParaRPr sz="1100" u="none" cap="none" strike="noStrike"/>
                    </a:p>
                  </a:txBody>
                  <a:tcPr marT="190500" marB="190500" marR="190500" marL="19050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B2D2C9"/>
                    </a:solidFill>
                  </a:tcPr>
                </a:tc>
              </a:tr>
            </a:tbl>
          </a:graphicData>
        </a:graphic>
      </p:graphicFrame>
      <p:sp>
        <p:nvSpPr>
          <p:cNvPr id="232" name="Google Shape;232;p10"/>
          <p:cNvSpPr txBox="1"/>
          <p:nvPr/>
        </p:nvSpPr>
        <p:spPr>
          <a:xfrm>
            <a:off x="1858797" y="2492654"/>
            <a:ext cx="14237700" cy="6312600"/>
          </a:xfrm>
          <a:prstGeom prst="rect">
            <a:avLst/>
          </a:prstGeom>
          <a:noFill/>
          <a:ln>
            <a:noFill/>
          </a:ln>
        </p:spPr>
        <p:txBody>
          <a:bodyPr anchorCtr="0" anchor="t" bIns="0" lIns="0" spcFirstLastPara="1" rIns="0" wrap="square" tIns="0">
            <a:spAutoFit/>
          </a:bodyPr>
          <a:lstStyle/>
          <a:p>
            <a:pPr indent="-302260" lvl="1" marL="604518" marR="0" rtl="0" algn="just">
              <a:lnSpc>
                <a:spcPct val="195034"/>
              </a:lnSpc>
              <a:spcBef>
                <a:spcPts val="0"/>
              </a:spcBef>
              <a:spcAft>
                <a:spcPts val="0"/>
              </a:spcAft>
              <a:buClr>
                <a:srgbClr val="000000"/>
              </a:buClr>
              <a:buSzPts val="2799"/>
              <a:buFont typeface="Arial"/>
              <a:buChar char="•"/>
            </a:pPr>
            <a:r>
              <a:rPr b="1" i="0" lang="en-US" sz="2799" u="none" cap="none" strike="noStrike">
                <a:solidFill>
                  <a:srgbClr val="000000"/>
                </a:solidFill>
                <a:latin typeface="Cabin"/>
                <a:ea typeface="Cabin"/>
                <a:cs typeface="Cabin"/>
                <a:sym typeface="Cabin"/>
              </a:rPr>
              <a:t>Accuracy:  </a:t>
            </a:r>
            <a:r>
              <a:rPr b="0" i="0" lang="en-US" sz="2799" u="none" cap="none" strike="noStrike">
                <a:solidFill>
                  <a:srgbClr val="000000"/>
                </a:solidFill>
                <a:latin typeface="Cabin"/>
                <a:ea typeface="Cabin"/>
                <a:cs typeface="Cabin"/>
                <a:sym typeface="Cabin"/>
              </a:rPr>
              <a:t> Measures the proportion of correctly classified instances over the total instances.  </a:t>
            </a:r>
            <a:endParaRPr b="0" i="0" sz="2799" u="none" cap="none" strike="noStrike">
              <a:solidFill>
                <a:srgbClr val="000000"/>
              </a:solidFill>
              <a:latin typeface="Cabin"/>
              <a:ea typeface="Cabin"/>
              <a:cs typeface="Cabin"/>
              <a:sym typeface="Cabin"/>
            </a:endParaRPr>
          </a:p>
          <a:p>
            <a:pPr indent="-302260" lvl="1" marL="604518" marR="0" rtl="0" algn="just">
              <a:lnSpc>
                <a:spcPct val="195034"/>
              </a:lnSpc>
              <a:spcBef>
                <a:spcPts val="0"/>
              </a:spcBef>
              <a:spcAft>
                <a:spcPts val="0"/>
              </a:spcAft>
              <a:buClr>
                <a:srgbClr val="000000"/>
              </a:buClr>
              <a:buSzPts val="2799"/>
              <a:buFont typeface="Arial"/>
              <a:buChar char="•"/>
            </a:pPr>
            <a:r>
              <a:rPr b="1" i="0" lang="en-US" sz="2799" u="none" cap="none" strike="noStrike">
                <a:solidFill>
                  <a:srgbClr val="000000"/>
                </a:solidFill>
                <a:latin typeface="Cabin"/>
                <a:ea typeface="Cabin"/>
                <a:cs typeface="Cabin"/>
                <a:sym typeface="Cabin"/>
              </a:rPr>
              <a:t>Precision: </a:t>
            </a:r>
            <a:r>
              <a:rPr b="0" i="0" lang="en-US" sz="2799" u="none" cap="none" strike="noStrike">
                <a:solidFill>
                  <a:srgbClr val="000000"/>
                </a:solidFill>
                <a:latin typeface="Cabin"/>
                <a:ea typeface="Cabin"/>
                <a:cs typeface="Cabin"/>
                <a:sym typeface="Cabin"/>
              </a:rPr>
              <a:t> Evaluates the proportion of true positive predictions among all positive predictions.  </a:t>
            </a:r>
            <a:endParaRPr b="0" i="0" sz="2799" u="none" cap="none" strike="noStrike">
              <a:solidFill>
                <a:srgbClr val="000000"/>
              </a:solidFill>
              <a:latin typeface="Cabin"/>
              <a:ea typeface="Cabin"/>
              <a:cs typeface="Cabin"/>
              <a:sym typeface="Cabin"/>
            </a:endParaRPr>
          </a:p>
          <a:p>
            <a:pPr indent="-302260" lvl="1" marL="604518" marR="0" rtl="0" algn="just">
              <a:lnSpc>
                <a:spcPct val="195034"/>
              </a:lnSpc>
              <a:spcBef>
                <a:spcPts val="0"/>
              </a:spcBef>
              <a:spcAft>
                <a:spcPts val="0"/>
              </a:spcAft>
              <a:buClr>
                <a:srgbClr val="000000"/>
              </a:buClr>
              <a:buSzPts val="2799"/>
              <a:buFont typeface="Arial"/>
              <a:buChar char="•"/>
            </a:pPr>
            <a:r>
              <a:rPr b="1" i="0" lang="en-US" sz="2799" u="none" cap="none" strike="noStrike">
                <a:solidFill>
                  <a:srgbClr val="000000"/>
                </a:solidFill>
                <a:latin typeface="Cabin"/>
                <a:ea typeface="Cabin"/>
                <a:cs typeface="Cabin"/>
                <a:sym typeface="Cabin"/>
              </a:rPr>
              <a:t>Recall:  A</a:t>
            </a:r>
            <a:r>
              <a:rPr b="0" i="0" lang="en-US" sz="2799" u="none" cap="none" strike="noStrike">
                <a:solidFill>
                  <a:srgbClr val="000000"/>
                </a:solidFill>
                <a:latin typeface="Cabin"/>
                <a:ea typeface="Cabin"/>
                <a:cs typeface="Cabin"/>
                <a:sym typeface="Cabin"/>
              </a:rPr>
              <a:t>lso known as Sensitivity or True Positive Rate, it measures the ability to identify all relevant instances.  </a:t>
            </a:r>
            <a:endParaRPr b="0" i="0" sz="2799" u="none" cap="none" strike="noStrike">
              <a:solidFill>
                <a:srgbClr val="000000"/>
              </a:solidFill>
              <a:latin typeface="Cabin"/>
              <a:ea typeface="Cabin"/>
              <a:cs typeface="Cabin"/>
              <a:sym typeface="Cabin"/>
            </a:endParaRPr>
          </a:p>
          <a:p>
            <a:pPr indent="-302260" lvl="1" marL="604519" marR="0" rtl="0" algn="just">
              <a:lnSpc>
                <a:spcPct val="195033"/>
              </a:lnSpc>
              <a:spcBef>
                <a:spcPts val="0"/>
              </a:spcBef>
              <a:spcAft>
                <a:spcPts val="0"/>
              </a:spcAft>
              <a:buClr>
                <a:srgbClr val="000000"/>
              </a:buClr>
              <a:buSzPts val="2799"/>
              <a:buFont typeface="Arial"/>
              <a:buChar char="•"/>
            </a:pPr>
            <a:r>
              <a:rPr b="1" i="0" lang="en-US" sz="2799" u="none" cap="none" strike="noStrike">
                <a:solidFill>
                  <a:srgbClr val="000000"/>
                </a:solidFill>
                <a:latin typeface="Cabin"/>
                <a:ea typeface="Cabin"/>
                <a:cs typeface="Cabin"/>
                <a:sym typeface="Cabin"/>
              </a:rPr>
              <a:t>F1-Score:  </a:t>
            </a:r>
            <a:r>
              <a:rPr b="0" i="0" lang="en-US" sz="2799" u="none" cap="none" strike="noStrike">
                <a:solidFill>
                  <a:srgbClr val="000000"/>
                </a:solidFill>
                <a:latin typeface="Cabin"/>
                <a:ea typeface="Cabin"/>
                <a:cs typeface="Cabin"/>
                <a:sym typeface="Cabin"/>
              </a:rPr>
              <a:t>The harmonic mean of Precision and Recall, providing a balance between them.  </a:t>
            </a:r>
            <a:endParaRPr/>
          </a:p>
          <a:p>
            <a:pPr indent="0" lvl="0" marL="0" marR="0" rtl="0" algn="just">
              <a:lnSpc>
                <a:spcPct val="195033"/>
              </a:lnSpc>
              <a:spcBef>
                <a:spcPts val="0"/>
              </a:spcBef>
              <a:spcAft>
                <a:spcPts val="0"/>
              </a:spcAft>
              <a:buNone/>
            </a:pPr>
            <a:r>
              <a:t/>
            </a:r>
            <a:endParaRPr b="0" i="0" sz="2799" u="none" cap="none" strike="noStrike">
              <a:solidFill>
                <a:srgbClr val="000000"/>
              </a:solidFill>
              <a:latin typeface="Cabin"/>
              <a:ea typeface="Cabin"/>
              <a:cs typeface="Cabin"/>
              <a:sym typeface="Cabin"/>
            </a:endParaRPr>
          </a:p>
        </p:txBody>
      </p:sp>
      <p:sp>
        <p:nvSpPr>
          <p:cNvPr id="233" name="Google Shape;233;p10"/>
          <p:cNvSpPr/>
          <p:nvPr/>
        </p:nvSpPr>
        <p:spPr>
          <a:xfrm>
            <a:off x="5545501" y="4754675"/>
            <a:ext cx="7806389" cy="829250"/>
          </a:xfrm>
          <a:custGeom>
            <a:rect b="b" l="l" r="r" t="t"/>
            <a:pathLst>
              <a:path extrusionOk="0" h="829250" w="7806389">
                <a:moveTo>
                  <a:pt x="0" y="0"/>
                </a:moveTo>
                <a:lnTo>
                  <a:pt x="7806390" y="0"/>
                </a:lnTo>
                <a:lnTo>
                  <a:pt x="7806390" y="829250"/>
                </a:lnTo>
                <a:lnTo>
                  <a:pt x="0" y="829250"/>
                </a:lnTo>
                <a:lnTo>
                  <a:pt x="0" y="0"/>
                </a:lnTo>
                <a:close/>
              </a:path>
            </a:pathLst>
          </a:custGeom>
          <a:blipFill rotWithShape="1">
            <a:blip r:embed="rId5">
              <a:alphaModFix/>
            </a:blip>
            <a:stretch>
              <a:fillRect b="0" l="0" r="0" t="0"/>
            </a:stretch>
          </a:blipFill>
          <a:ln>
            <a:noFill/>
          </a:ln>
        </p:spPr>
      </p:sp>
      <p:sp>
        <p:nvSpPr>
          <p:cNvPr id="234" name="Google Shape;234;p10"/>
          <p:cNvSpPr/>
          <p:nvPr/>
        </p:nvSpPr>
        <p:spPr>
          <a:xfrm>
            <a:off x="5676241" y="8123686"/>
            <a:ext cx="7011063" cy="888388"/>
          </a:xfrm>
          <a:custGeom>
            <a:rect b="b" l="l" r="r" t="t"/>
            <a:pathLst>
              <a:path extrusionOk="0" h="888388" w="7011063">
                <a:moveTo>
                  <a:pt x="0" y="0"/>
                </a:moveTo>
                <a:lnTo>
                  <a:pt x="7011063" y="0"/>
                </a:lnTo>
                <a:lnTo>
                  <a:pt x="7011063" y="888388"/>
                </a:lnTo>
                <a:lnTo>
                  <a:pt x="0" y="888388"/>
                </a:lnTo>
                <a:lnTo>
                  <a:pt x="0" y="0"/>
                </a:lnTo>
                <a:close/>
              </a:path>
            </a:pathLst>
          </a:custGeom>
          <a:blipFill rotWithShape="1">
            <a:blip r:embed="rId6">
              <a:alphaModFix/>
            </a:blip>
            <a:stretch>
              <a:fillRect b="0" l="0" r="0" t="0"/>
            </a:stretch>
          </a:blipFill>
          <a:ln>
            <a:noFill/>
          </a:ln>
        </p:spPr>
      </p:sp>
      <p:sp>
        <p:nvSpPr>
          <p:cNvPr id="235" name="Google Shape;235;p10"/>
          <p:cNvSpPr/>
          <p:nvPr/>
        </p:nvSpPr>
        <p:spPr>
          <a:xfrm>
            <a:off x="5620566" y="6438475"/>
            <a:ext cx="7308697" cy="865009"/>
          </a:xfrm>
          <a:custGeom>
            <a:rect b="b" l="l" r="r" t="t"/>
            <a:pathLst>
              <a:path extrusionOk="0" h="865009" w="7308697">
                <a:moveTo>
                  <a:pt x="0" y="0"/>
                </a:moveTo>
                <a:lnTo>
                  <a:pt x="7308697" y="0"/>
                </a:lnTo>
                <a:lnTo>
                  <a:pt x="7308697" y="865009"/>
                </a:lnTo>
                <a:lnTo>
                  <a:pt x="0" y="865009"/>
                </a:lnTo>
                <a:lnTo>
                  <a:pt x="0" y="0"/>
                </a:lnTo>
                <a:close/>
              </a:path>
            </a:pathLst>
          </a:custGeom>
          <a:blipFill rotWithShape="1">
            <a:blip r:embed="rId7">
              <a:alphaModFix/>
            </a:blip>
            <a:stretch>
              <a:fillRect b="0" l="0" r="0" t="0"/>
            </a:stretch>
          </a:blipFill>
          <a:ln>
            <a:noFill/>
          </a:ln>
        </p:spPr>
      </p:sp>
      <p:sp>
        <p:nvSpPr>
          <p:cNvPr id="236" name="Google Shape;236;p10"/>
          <p:cNvSpPr/>
          <p:nvPr/>
        </p:nvSpPr>
        <p:spPr>
          <a:xfrm>
            <a:off x="5545491" y="3034287"/>
            <a:ext cx="7272571" cy="942043"/>
          </a:xfrm>
          <a:custGeom>
            <a:rect b="b" l="l" r="r" t="t"/>
            <a:pathLst>
              <a:path extrusionOk="0" h="942043" w="7272571">
                <a:moveTo>
                  <a:pt x="0" y="0"/>
                </a:moveTo>
                <a:lnTo>
                  <a:pt x="7272571" y="0"/>
                </a:lnTo>
                <a:lnTo>
                  <a:pt x="7272571" y="942043"/>
                </a:lnTo>
                <a:lnTo>
                  <a:pt x="0" y="942043"/>
                </a:lnTo>
                <a:lnTo>
                  <a:pt x="0" y="0"/>
                </a:lnTo>
                <a:close/>
              </a:path>
            </a:pathLst>
          </a:custGeom>
          <a:blipFill rotWithShape="1">
            <a:blip r:embed="rId8">
              <a:alphaModFix/>
            </a:blip>
            <a:stretch>
              <a:fillRect b="0" l="0" r="0" t="0"/>
            </a:stretch>
          </a:blipFill>
          <a:ln>
            <a:noFill/>
          </a:ln>
        </p:spPr>
      </p:sp>
      <p:sp>
        <p:nvSpPr>
          <p:cNvPr id="237" name="Google Shape;237;p10"/>
          <p:cNvSpPr txBox="1"/>
          <p:nvPr/>
        </p:nvSpPr>
        <p:spPr>
          <a:xfrm>
            <a:off x="5377787" y="401648"/>
            <a:ext cx="7532427" cy="627052"/>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699" u="none" cap="none" strike="noStrike">
                <a:solidFill>
                  <a:srgbClr val="000000"/>
                </a:solidFill>
                <a:latin typeface="Cabin"/>
                <a:ea typeface="Cabin"/>
                <a:cs typeface="Cabin"/>
                <a:sym typeface="Cabin"/>
              </a:rPr>
              <a:t>V. RESULT</a:t>
            </a:r>
            <a:endParaRPr/>
          </a:p>
        </p:txBody>
      </p:sp>
      <p:sp>
        <p:nvSpPr>
          <p:cNvPr id="238" name="Google Shape;238;p10"/>
          <p:cNvSpPr txBox="1"/>
          <p:nvPr/>
        </p:nvSpPr>
        <p:spPr>
          <a:xfrm>
            <a:off x="2025224" y="1427231"/>
            <a:ext cx="5224139" cy="52388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000000"/>
                </a:solidFill>
                <a:latin typeface="Cabin"/>
                <a:ea typeface="Cabin"/>
                <a:cs typeface="Cabin"/>
                <a:sym typeface="Cabin"/>
              </a:rPr>
              <a:t>EVALUATION METRICS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42" name="Shape 242"/>
        <p:cNvGrpSpPr/>
        <p:nvPr/>
      </p:nvGrpSpPr>
      <p:grpSpPr>
        <a:xfrm>
          <a:off x="0" y="0"/>
          <a:ext cx="0" cy="0"/>
          <a:chOff x="0" y="0"/>
          <a:chExt cx="0" cy="0"/>
        </a:xfrm>
      </p:grpSpPr>
      <p:sp>
        <p:nvSpPr>
          <p:cNvPr id="243" name="Google Shape;243;p11"/>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244" name="Google Shape;244;p11"/>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graphicFrame>
        <p:nvGraphicFramePr>
          <p:cNvPr id="245" name="Google Shape;245;p11"/>
          <p:cNvGraphicFramePr/>
          <p:nvPr/>
        </p:nvGraphicFramePr>
        <p:xfrm>
          <a:off x="2287801" y="2060480"/>
          <a:ext cx="3000000" cy="3000000"/>
        </p:xfrm>
        <a:graphic>
          <a:graphicData uri="http://schemas.openxmlformats.org/drawingml/2006/table">
            <a:tbl>
              <a:tblPr>
                <a:noFill/>
                <a:tableStyleId>{5F720CB9-E96E-4544-BF5B-146836890901}</a:tableStyleId>
              </a:tblPr>
              <a:tblGrid>
                <a:gridCol w="3296850"/>
                <a:gridCol w="2540125"/>
                <a:gridCol w="2544550"/>
                <a:gridCol w="2605350"/>
                <a:gridCol w="3081525"/>
              </a:tblGrid>
              <a:tr h="2254075">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Model</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CNN_1D</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Gradient Boosting</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XGBoost</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RandomForest</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r>
              <a:tr h="137400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Accuracy</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0.51</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0.65</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0.65</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0.62</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r h="100445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Precision</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0.27</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0.41</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0.39</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0.26</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r h="100445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F1-Score</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0.28</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0.58</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0.47</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0.28</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r h="100445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Recall</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0.28</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0.38</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0.38</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c>
                  <a:txBody>
                    <a:bodyPr/>
                    <a:lstStyle/>
                    <a:p>
                      <a:pPr indent="0" lvl="0" marL="0" marR="0" rtl="0" algn="ctr">
                        <a:lnSpc>
                          <a:spcPct val="140014"/>
                        </a:lnSpc>
                        <a:spcBef>
                          <a:spcPts val="0"/>
                        </a:spcBef>
                        <a:spcAft>
                          <a:spcPts val="0"/>
                        </a:spcAft>
                        <a:buNone/>
                      </a:pPr>
                      <a:r>
                        <a:rPr lang="en-US" sz="2799" u="none" cap="none" strike="noStrike">
                          <a:solidFill>
                            <a:srgbClr val="000000"/>
                          </a:solidFill>
                          <a:latin typeface="Cabin"/>
                          <a:ea typeface="Cabin"/>
                          <a:cs typeface="Cabin"/>
                          <a:sym typeface="Cabin"/>
                        </a:rPr>
                        <a:t>0.29</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bl>
          </a:graphicData>
        </a:graphic>
      </p:graphicFrame>
      <p:sp>
        <p:nvSpPr>
          <p:cNvPr id="246" name="Google Shape;246;p11"/>
          <p:cNvSpPr txBox="1"/>
          <p:nvPr/>
        </p:nvSpPr>
        <p:spPr>
          <a:xfrm>
            <a:off x="5377787" y="681836"/>
            <a:ext cx="7532427" cy="627052"/>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699" u="none" cap="none" strike="noStrike">
                <a:solidFill>
                  <a:srgbClr val="000000"/>
                </a:solidFill>
                <a:latin typeface="Cabin"/>
                <a:ea typeface="Cabin"/>
                <a:cs typeface="Cabin"/>
                <a:sym typeface="Cabin"/>
              </a:rPr>
              <a:t>RESULT</a:t>
            </a:r>
            <a:endParaRPr/>
          </a:p>
        </p:txBody>
      </p:sp>
      <p:sp>
        <p:nvSpPr>
          <p:cNvPr id="247" name="Google Shape;247;p11"/>
          <p:cNvSpPr txBox="1"/>
          <p:nvPr/>
        </p:nvSpPr>
        <p:spPr>
          <a:xfrm>
            <a:off x="4339776" y="9201150"/>
            <a:ext cx="9964465"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2799" u="none" cap="none" strike="noStrike">
                <a:solidFill>
                  <a:srgbClr val="000000"/>
                </a:solidFill>
                <a:latin typeface="Cabin"/>
                <a:ea typeface="Cabin"/>
                <a:cs typeface="Cabin"/>
                <a:sym typeface="Cabin"/>
              </a:rPr>
              <a:t>Table 1: Experimental results with based model on test set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51" name="Shape 251"/>
        <p:cNvGrpSpPr/>
        <p:nvPr/>
      </p:nvGrpSpPr>
      <p:grpSpPr>
        <a:xfrm>
          <a:off x="0" y="0"/>
          <a:ext cx="0" cy="0"/>
          <a:chOff x="0" y="0"/>
          <a:chExt cx="0" cy="0"/>
        </a:xfrm>
      </p:grpSpPr>
      <p:sp>
        <p:nvSpPr>
          <p:cNvPr id="252" name="Google Shape;252;p12"/>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253" name="Google Shape;253;p12"/>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graphicFrame>
        <p:nvGraphicFramePr>
          <p:cNvPr id="254" name="Google Shape;254;p12"/>
          <p:cNvGraphicFramePr/>
          <p:nvPr/>
        </p:nvGraphicFramePr>
        <p:xfrm>
          <a:off x="2287801" y="1682407"/>
          <a:ext cx="3000000" cy="3000000"/>
        </p:xfrm>
        <a:graphic>
          <a:graphicData uri="http://schemas.openxmlformats.org/drawingml/2006/table">
            <a:tbl>
              <a:tblPr>
                <a:noFill/>
                <a:tableStyleId>{5F720CB9-E96E-4544-BF5B-146836890901}</a:tableStyleId>
              </a:tblPr>
              <a:tblGrid>
                <a:gridCol w="5690500"/>
                <a:gridCol w="6486275"/>
              </a:tblGrid>
              <a:tr h="2254075">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Model</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Ensemble model - KNN</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r>
              <a:tr h="137400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Accuracy</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0.55</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r h="100445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Precision</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0.17</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r h="100445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F1-Score</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0.16</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r h="1004450">
                <a:tc>
                  <a:txBody>
                    <a:bodyPr/>
                    <a:lstStyle/>
                    <a:p>
                      <a:pPr indent="0" lvl="0" marL="0" marR="0" rtl="0" algn="ctr">
                        <a:lnSpc>
                          <a:spcPct val="140014"/>
                        </a:lnSpc>
                        <a:spcBef>
                          <a:spcPts val="0"/>
                        </a:spcBef>
                        <a:spcAft>
                          <a:spcPts val="0"/>
                        </a:spcAft>
                        <a:buNone/>
                      </a:pPr>
                      <a:r>
                        <a:rPr b="1" lang="en-US" sz="2799" u="none" cap="none" strike="noStrike">
                          <a:solidFill>
                            <a:srgbClr val="000000"/>
                          </a:solidFill>
                          <a:latin typeface="Cabin"/>
                          <a:ea typeface="Cabin"/>
                          <a:cs typeface="Cabin"/>
                          <a:sym typeface="Cabin"/>
                        </a:rPr>
                        <a:t>Recall</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2D2C9"/>
                    </a:solidFill>
                  </a:tcPr>
                </a:tc>
                <a:tc>
                  <a:txBody>
                    <a:bodyPr/>
                    <a:lstStyle/>
                    <a:p>
                      <a:pPr indent="0" lvl="0" marL="0" marR="0" rtl="0" algn="ctr">
                        <a:lnSpc>
                          <a:spcPct val="140014"/>
                        </a:lnSpc>
                        <a:spcBef>
                          <a:spcPts val="0"/>
                        </a:spcBef>
                        <a:spcAft>
                          <a:spcPts val="0"/>
                        </a:spcAft>
                        <a:buNone/>
                      </a:pPr>
                      <a:r>
                        <a:rPr b="1" lang="en-US" sz="2799" u="sng" cap="none" strike="noStrike">
                          <a:solidFill>
                            <a:srgbClr val="000000"/>
                          </a:solidFill>
                          <a:latin typeface="Cabin"/>
                          <a:ea typeface="Cabin"/>
                          <a:cs typeface="Cabin"/>
                          <a:sym typeface="Cabin"/>
                        </a:rPr>
                        <a:t>0.23</a:t>
                      </a:r>
                      <a:endParaRPr sz="1100" u="none" cap="none" strike="noStrike"/>
                    </a:p>
                  </a:txBody>
                  <a:tcPr marT="190500" marB="190500" marR="190500" marL="190500"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C5EBE0"/>
                    </a:solidFill>
                  </a:tcPr>
                </a:tc>
              </a:tr>
            </a:tbl>
          </a:graphicData>
        </a:graphic>
      </p:graphicFrame>
      <p:sp>
        <p:nvSpPr>
          <p:cNvPr id="255" name="Google Shape;255;p12"/>
          <p:cNvSpPr txBox="1"/>
          <p:nvPr/>
        </p:nvSpPr>
        <p:spPr>
          <a:xfrm>
            <a:off x="5377787" y="681836"/>
            <a:ext cx="7532427" cy="627052"/>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699" u="none" cap="none" strike="noStrike">
                <a:solidFill>
                  <a:srgbClr val="000000"/>
                </a:solidFill>
                <a:latin typeface="Cabin"/>
                <a:ea typeface="Cabin"/>
                <a:cs typeface="Cabin"/>
                <a:sym typeface="Cabin"/>
              </a:rPr>
              <a:t>RESULT</a:t>
            </a:r>
            <a:endParaRPr/>
          </a:p>
        </p:txBody>
      </p:sp>
      <p:sp>
        <p:nvSpPr>
          <p:cNvPr id="256" name="Google Shape;256;p12"/>
          <p:cNvSpPr txBox="1"/>
          <p:nvPr/>
        </p:nvSpPr>
        <p:spPr>
          <a:xfrm>
            <a:off x="5534233" y="8776966"/>
            <a:ext cx="7219533" cy="976637"/>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2799" u="none" cap="none" strike="noStrike">
                <a:solidFill>
                  <a:srgbClr val="000000"/>
                </a:solidFill>
                <a:latin typeface="Cabin"/>
                <a:ea typeface="Cabin"/>
                <a:cs typeface="Cabin"/>
                <a:sym typeface="Cabin"/>
              </a:rPr>
              <a:t>Table 2: Experimental results with meta model without GA-Stacking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64" name="Shape 264"/>
        <p:cNvGrpSpPr/>
        <p:nvPr/>
      </p:nvGrpSpPr>
      <p:grpSpPr>
        <a:xfrm>
          <a:off x="0" y="0"/>
          <a:ext cx="0" cy="0"/>
          <a:chOff x="0" y="0"/>
          <a:chExt cx="0" cy="0"/>
        </a:xfrm>
      </p:grpSpPr>
      <p:sp>
        <p:nvSpPr>
          <p:cNvPr id="265" name="Google Shape;265;p13"/>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266" name="Google Shape;266;p13"/>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267" name="Google Shape;267;p13"/>
          <p:cNvSpPr/>
          <p:nvPr/>
        </p:nvSpPr>
        <p:spPr>
          <a:xfrm>
            <a:off x="2479213" y="842852"/>
            <a:ext cx="13329574" cy="8601296"/>
          </a:xfrm>
          <a:custGeom>
            <a:rect b="b" l="l" r="r" t="t"/>
            <a:pathLst>
              <a:path extrusionOk="0" h="8601296" w="13329574">
                <a:moveTo>
                  <a:pt x="0" y="0"/>
                </a:moveTo>
                <a:lnTo>
                  <a:pt x="13329574" y="0"/>
                </a:lnTo>
                <a:lnTo>
                  <a:pt x="13329574" y="8601296"/>
                </a:lnTo>
                <a:lnTo>
                  <a:pt x="0" y="8601296"/>
                </a:lnTo>
                <a:lnTo>
                  <a:pt x="0" y="0"/>
                </a:lnTo>
                <a:close/>
              </a:path>
            </a:pathLst>
          </a:custGeom>
          <a:blipFill rotWithShape="1">
            <a:blip r:embed="rId5">
              <a:alphaModFix/>
            </a:blip>
            <a:stretch>
              <a:fillRect b="0" l="0" r="0" t="0"/>
            </a:stretch>
          </a:blipFill>
          <a:ln>
            <a:noFill/>
          </a:ln>
        </p:spPr>
      </p:sp>
      <p:sp>
        <p:nvSpPr>
          <p:cNvPr id="268" name="Google Shape;268;p13"/>
          <p:cNvSpPr txBox="1"/>
          <p:nvPr/>
        </p:nvSpPr>
        <p:spPr>
          <a:xfrm>
            <a:off x="6098125" y="938706"/>
            <a:ext cx="6219527" cy="627052"/>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699" u="none" cap="none" strike="noStrike">
                <a:solidFill>
                  <a:srgbClr val="000000"/>
                </a:solidFill>
                <a:latin typeface="Cabin"/>
                <a:ea typeface="Cabin"/>
                <a:cs typeface="Cabin"/>
                <a:sym typeface="Cabin"/>
              </a:rPr>
              <a:t>VI. CONCLUSION</a:t>
            </a:r>
            <a:endParaRPr/>
          </a:p>
        </p:txBody>
      </p:sp>
      <p:sp>
        <p:nvSpPr>
          <p:cNvPr id="269" name="Google Shape;269;p13"/>
          <p:cNvSpPr txBox="1"/>
          <p:nvPr/>
        </p:nvSpPr>
        <p:spPr>
          <a:xfrm>
            <a:off x="3718912" y="2292917"/>
            <a:ext cx="10850100" cy="4981200"/>
          </a:xfrm>
          <a:prstGeom prst="rect">
            <a:avLst/>
          </a:prstGeom>
          <a:noFill/>
          <a:ln>
            <a:noFill/>
          </a:ln>
        </p:spPr>
        <p:txBody>
          <a:bodyPr anchorCtr="0" anchor="t" bIns="0" lIns="0" spcFirstLastPara="1" rIns="0" wrap="square" tIns="0">
            <a:spAutoFit/>
          </a:bodyPr>
          <a:lstStyle/>
          <a:p>
            <a:pPr indent="0" lvl="0" marL="0" marR="0" rtl="0" algn="l">
              <a:lnSpc>
                <a:spcPct val="176027"/>
              </a:lnSpc>
              <a:spcBef>
                <a:spcPts val="0"/>
              </a:spcBef>
              <a:spcAft>
                <a:spcPts val="0"/>
              </a:spcAft>
              <a:buNone/>
            </a:pPr>
            <a:r>
              <a:rPr b="0" i="0" lang="en-US" sz="2799" u="none" cap="none" strike="noStrike">
                <a:solidFill>
                  <a:srgbClr val="000000"/>
                </a:solidFill>
                <a:latin typeface="Cabin"/>
                <a:ea typeface="Cabin"/>
                <a:cs typeface="Cabin"/>
                <a:sym typeface="Cabin"/>
              </a:rPr>
              <a:t>            We applied GA-Stacking to build a hybrid model for arrhythmia classification using the Cardiac Arrhythmia Database, aiming to accurately classify arrhythmia types. The model combined CNN_1D, Gradient Boosting, XGBoost, Random Forest, GBM and SVC, with GA Stacking to optimize predictions. </a:t>
            </a:r>
            <a:endParaRPr/>
          </a:p>
          <a:p>
            <a:pPr indent="0" lvl="0" marL="0" marR="0" rtl="0" algn="l">
              <a:lnSpc>
                <a:spcPct val="176027"/>
              </a:lnSpc>
              <a:spcBef>
                <a:spcPts val="0"/>
              </a:spcBef>
              <a:spcAft>
                <a:spcPts val="0"/>
              </a:spcAft>
              <a:buNone/>
            </a:pPr>
            <a:r>
              <a:rPr b="0" i="0" lang="en-US" sz="2799" u="none" cap="none" strike="noStrike">
                <a:solidFill>
                  <a:srgbClr val="000000"/>
                </a:solidFill>
                <a:latin typeface="Cabin"/>
                <a:ea typeface="Cabin"/>
                <a:cs typeface="Cabin"/>
                <a:sym typeface="Cabin"/>
              </a:rPr>
              <a:t>            While current results are below expectations, the team will continue refining the model, using additional meta-models.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73" name="Shape 273"/>
        <p:cNvGrpSpPr/>
        <p:nvPr/>
      </p:nvGrpSpPr>
      <p:grpSpPr>
        <a:xfrm>
          <a:off x="0" y="0"/>
          <a:ext cx="0" cy="0"/>
          <a:chOff x="0" y="0"/>
          <a:chExt cx="0" cy="0"/>
        </a:xfrm>
      </p:grpSpPr>
      <p:sp>
        <p:nvSpPr>
          <p:cNvPr id="274" name="Google Shape;274;p14"/>
          <p:cNvSpPr/>
          <p:nvPr/>
        </p:nvSpPr>
        <p:spPr>
          <a:xfrm rot="-3058308">
            <a:off x="11813674" y="5399221"/>
            <a:ext cx="9085083" cy="6605364"/>
          </a:xfrm>
          <a:custGeom>
            <a:rect b="b" l="l" r="r" t="t"/>
            <a:pathLst>
              <a:path extrusionOk="0" h="6605364" w="9085083">
                <a:moveTo>
                  <a:pt x="0" y="0"/>
                </a:moveTo>
                <a:lnTo>
                  <a:pt x="9085083" y="0"/>
                </a:lnTo>
                <a:lnTo>
                  <a:pt x="9085083" y="6605364"/>
                </a:lnTo>
                <a:lnTo>
                  <a:pt x="0" y="6605364"/>
                </a:lnTo>
                <a:lnTo>
                  <a:pt x="0" y="0"/>
                </a:lnTo>
                <a:close/>
              </a:path>
            </a:pathLst>
          </a:custGeom>
          <a:blipFill rotWithShape="1">
            <a:blip r:embed="rId3">
              <a:alphaModFix/>
            </a:blip>
            <a:stretch>
              <a:fillRect b="0" l="0" r="0" t="0"/>
            </a:stretch>
          </a:blipFill>
          <a:ln>
            <a:noFill/>
          </a:ln>
        </p:spPr>
      </p:sp>
      <p:sp>
        <p:nvSpPr>
          <p:cNvPr id="275" name="Google Shape;275;p14"/>
          <p:cNvSpPr/>
          <p:nvPr/>
        </p:nvSpPr>
        <p:spPr>
          <a:xfrm rot="5400000">
            <a:off x="-1016693" y="-855693"/>
            <a:ext cx="8336814" cy="8678487"/>
          </a:xfrm>
          <a:custGeom>
            <a:rect b="b" l="l" r="r" t="t"/>
            <a:pathLst>
              <a:path extrusionOk="0" h="8678487" w="8336814">
                <a:moveTo>
                  <a:pt x="0" y="0"/>
                </a:moveTo>
                <a:lnTo>
                  <a:pt x="8336814" y="0"/>
                </a:lnTo>
                <a:lnTo>
                  <a:pt x="8336814" y="8678487"/>
                </a:lnTo>
                <a:lnTo>
                  <a:pt x="0" y="8678487"/>
                </a:lnTo>
                <a:lnTo>
                  <a:pt x="0" y="0"/>
                </a:lnTo>
                <a:close/>
              </a:path>
            </a:pathLst>
          </a:custGeom>
          <a:blipFill rotWithShape="1">
            <a:blip r:embed="rId4">
              <a:alphaModFix/>
            </a:blip>
            <a:stretch>
              <a:fillRect b="0" l="0" r="0" t="0"/>
            </a:stretch>
          </a:blipFill>
          <a:ln>
            <a:noFill/>
          </a:ln>
        </p:spPr>
      </p:sp>
      <p:sp>
        <p:nvSpPr>
          <p:cNvPr id="276" name="Google Shape;276;p14"/>
          <p:cNvSpPr/>
          <p:nvPr/>
        </p:nvSpPr>
        <p:spPr>
          <a:xfrm>
            <a:off x="2479213" y="842852"/>
            <a:ext cx="13329574" cy="8601296"/>
          </a:xfrm>
          <a:custGeom>
            <a:rect b="b" l="l" r="r" t="t"/>
            <a:pathLst>
              <a:path extrusionOk="0" h="8601296" w="13329574">
                <a:moveTo>
                  <a:pt x="0" y="0"/>
                </a:moveTo>
                <a:lnTo>
                  <a:pt x="13329574" y="0"/>
                </a:lnTo>
                <a:lnTo>
                  <a:pt x="13329574" y="8601296"/>
                </a:lnTo>
                <a:lnTo>
                  <a:pt x="0" y="8601296"/>
                </a:lnTo>
                <a:lnTo>
                  <a:pt x="0" y="0"/>
                </a:lnTo>
                <a:close/>
              </a:path>
            </a:pathLst>
          </a:custGeom>
          <a:blipFill rotWithShape="1">
            <a:blip r:embed="rId5">
              <a:alphaModFix/>
            </a:blip>
            <a:stretch>
              <a:fillRect b="0" l="0" r="0" t="0"/>
            </a:stretch>
          </a:blipFill>
          <a:ln>
            <a:noFill/>
          </a:ln>
        </p:spPr>
      </p:sp>
      <p:sp>
        <p:nvSpPr>
          <p:cNvPr id="277" name="Google Shape;277;p14"/>
          <p:cNvSpPr txBox="1"/>
          <p:nvPr/>
        </p:nvSpPr>
        <p:spPr>
          <a:xfrm>
            <a:off x="6098125" y="938706"/>
            <a:ext cx="6219527" cy="627052"/>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3699" u="none" cap="none" strike="noStrike">
                <a:solidFill>
                  <a:srgbClr val="000000"/>
                </a:solidFill>
                <a:latin typeface="Cabin"/>
                <a:ea typeface="Cabin"/>
                <a:cs typeface="Cabin"/>
                <a:sym typeface="Cabin"/>
              </a:rPr>
              <a:t>DOCUMENTATION</a:t>
            </a:r>
            <a:endParaRPr/>
          </a:p>
        </p:txBody>
      </p:sp>
      <p:sp>
        <p:nvSpPr>
          <p:cNvPr id="278" name="Google Shape;278;p14"/>
          <p:cNvSpPr txBox="1"/>
          <p:nvPr/>
        </p:nvSpPr>
        <p:spPr>
          <a:xfrm>
            <a:off x="3471595" y="2201687"/>
            <a:ext cx="11472588" cy="6159248"/>
          </a:xfrm>
          <a:prstGeom prst="rect">
            <a:avLst/>
          </a:prstGeom>
          <a:noFill/>
          <a:ln>
            <a:noFill/>
          </a:ln>
        </p:spPr>
        <p:txBody>
          <a:bodyPr anchorCtr="0" anchor="t" bIns="0" lIns="0" spcFirstLastPara="1" rIns="0" wrap="square" tIns="0">
            <a:spAutoFit/>
          </a:bodyPr>
          <a:lstStyle/>
          <a:p>
            <a:pPr indent="0" lvl="0" marL="0" marR="0" rtl="0" algn="l">
              <a:lnSpc>
                <a:spcPct val="220042"/>
              </a:lnSpc>
              <a:spcBef>
                <a:spcPts val="0"/>
              </a:spcBef>
              <a:spcAft>
                <a:spcPts val="0"/>
              </a:spcAft>
              <a:buNone/>
            </a:pPr>
            <a:r>
              <a:rPr b="0" i="0" lang="en-US" sz="2799" u="none" cap="none" strike="noStrike">
                <a:solidFill>
                  <a:srgbClr val="000000"/>
                </a:solidFill>
                <a:latin typeface="Cabin"/>
                <a:ea typeface="Cabin"/>
                <a:cs typeface="Cabin"/>
                <a:sym typeface="Cabin"/>
              </a:rPr>
              <a:t>[1] Cardiac Arrhythmia Database. Link:  </a:t>
            </a:r>
            <a:r>
              <a:rPr b="0" i="0" lang="en-US" sz="2799" u="sng" cap="none" strike="noStrike">
                <a:solidFill>
                  <a:srgbClr val="000000"/>
                </a:solidFill>
                <a:latin typeface="Cabin"/>
                <a:ea typeface="Cabin"/>
                <a:cs typeface="Cabin"/>
                <a:sym typeface="Cabin"/>
              </a:rPr>
              <a:t>https://www.kaggle.com/datasets /bulentesen/cardiac-arrhythmia-database/data</a:t>
            </a:r>
            <a:endParaRPr/>
          </a:p>
          <a:p>
            <a:pPr indent="0" lvl="0" marL="0" marR="0" rtl="0" algn="l">
              <a:lnSpc>
                <a:spcPct val="220042"/>
              </a:lnSpc>
              <a:spcBef>
                <a:spcPts val="0"/>
              </a:spcBef>
              <a:spcAft>
                <a:spcPts val="0"/>
              </a:spcAft>
              <a:buNone/>
            </a:pPr>
            <a:r>
              <a:rPr b="0" i="0" lang="en-US" sz="2799" u="none" cap="none" strike="noStrike">
                <a:solidFill>
                  <a:srgbClr val="000000"/>
                </a:solidFill>
                <a:latin typeface="Cabin"/>
                <a:ea typeface="Cabin"/>
                <a:cs typeface="Cabin"/>
                <a:sym typeface="Cabin"/>
              </a:rPr>
              <a:t>[2]”Improved stacked ensemble with genetic algorithm for automatic ECG diagnosis of children living in high-altitude areas”, 2023. Link:</a:t>
            </a:r>
            <a:r>
              <a:rPr b="0" i="0" lang="en-US" sz="2799" u="sng" cap="none" strike="noStrike">
                <a:solidFill>
                  <a:srgbClr val="000000"/>
                </a:solidFill>
                <a:latin typeface="Cabin"/>
                <a:ea typeface="Cabin"/>
                <a:cs typeface="Cabin"/>
                <a:sym typeface="Cabin"/>
              </a:rPr>
              <a:t> https://doi.org/ 10.1016/j.bspc.2023.105506</a:t>
            </a:r>
            <a:endParaRPr/>
          </a:p>
          <a:p>
            <a:pPr indent="0" lvl="0" marL="0" marR="0" rtl="0" algn="l">
              <a:lnSpc>
                <a:spcPct val="220042"/>
              </a:lnSpc>
              <a:spcBef>
                <a:spcPts val="0"/>
              </a:spcBef>
              <a:spcAft>
                <a:spcPts val="0"/>
              </a:spcAft>
              <a:buNone/>
            </a:pPr>
            <a:r>
              <a:rPr b="0" i="0" lang="en-US" sz="2799" u="none" cap="none" strike="noStrike">
                <a:solidFill>
                  <a:srgbClr val="000000"/>
                </a:solidFill>
                <a:latin typeface="Cabin"/>
                <a:ea typeface="Cabin"/>
                <a:cs typeface="Cabin"/>
                <a:sym typeface="Cabin"/>
              </a:rPr>
              <a:t>[3] “A stacking classifiers model for detecting heart irregularities and predicting Cardiovascular Disease”, 2023. Link: </a:t>
            </a:r>
            <a:r>
              <a:rPr b="0" i="0" lang="en-US" sz="2799" u="sng" cap="none" strike="noStrike">
                <a:solidFill>
                  <a:srgbClr val="000000"/>
                </a:solidFill>
                <a:latin typeface="Cabin"/>
                <a:ea typeface="Cabin"/>
                <a:cs typeface="Cabin"/>
                <a:sym typeface="Cabin"/>
              </a:rPr>
              <a:t>https://doi.org/10.1016 /j.health.2022.100133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FEB"/>
        </a:solidFill>
      </p:bgPr>
    </p:bg>
    <p:spTree>
      <p:nvGrpSpPr>
        <p:cNvPr id="282" name="Shape 282"/>
        <p:cNvGrpSpPr/>
        <p:nvPr/>
      </p:nvGrpSpPr>
      <p:grpSpPr>
        <a:xfrm>
          <a:off x="0" y="0"/>
          <a:ext cx="0" cy="0"/>
          <a:chOff x="0" y="0"/>
          <a:chExt cx="0" cy="0"/>
        </a:xfrm>
      </p:grpSpPr>
      <p:sp>
        <p:nvSpPr>
          <p:cNvPr id="283" name="Google Shape;283;p15"/>
          <p:cNvSpPr txBox="1"/>
          <p:nvPr/>
        </p:nvSpPr>
        <p:spPr>
          <a:xfrm>
            <a:off x="4484296" y="3754718"/>
            <a:ext cx="9319408" cy="262516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7530" u="none" cap="none" strike="noStrike">
                <a:solidFill>
                  <a:srgbClr val="000000"/>
                </a:solidFill>
                <a:latin typeface="Cabin"/>
                <a:ea typeface="Cabin"/>
                <a:cs typeface="Cabin"/>
                <a:sym typeface="Cabin"/>
              </a:rPr>
              <a:t>THANK YOU FOR LISTENING!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